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6" r:id="rId2"/>
    <p:sldId id="258" r:id="rId3"/>
    <p:sldId id="259" r:id="rId4"/>
    <p:sldId id="260" r:id="rId5"/>
    <p:sldId id="261" r:id="rId6"/>
    <p:sldId id="265" r:id="rId7"/>
    <p:sldId id="263" r:id="rId8"/>
    <p:sldId id="264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129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.lakshmi.swetha\Downloads\Superstore%20Sales\Superstor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.lakshmi.swetha\Downloads\Superstore%20Sales\Superstor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.lakshmi.swetha\Downloads\Superstore%20Sales\Superstor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.lakshmi.swetha\Downloads\Superstore%20Sales\Superstore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.lakshmi.swetha\Downloads\Superstore%20Sales\Superstore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.lakshmi.swetha\Downloads\Superstore%20Sales\Superstore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.lakshmi.swetha\Downloads\Superstore%20Sales\Superstore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.lakshmi.swetha\Downloads\Superstore%20Sales\Superstore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.lakshmi.swetha\Downloads\Superstore%20Sales\Superstore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.lakshmi.swetha\Downloads\Superstore%20Sales\Superstore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.lakshmi.swetha\Downloads\Superstore%20Sales\Superstore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[Superstore.xlsx]Pivot Tables!PivotTable3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800" b="1" i="0" u="none" strike="noStrike" kern="1200" spc="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b="1"/>
              <a:t>Segment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800" b="1" i="0" u="none" strike="noStrike" kern="1200" spc="0" baseline="0">
              <a:solidFill>
                <a:srgbClr val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'Pivot Tables'!$C$28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CE2-4D08-871C-D080DE406FB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CE2-4D08-871C-D080DE406FB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CE2-4D08-871C-D080DE406FB3}"/>
              </c:ext>
            </c:extLst>
          </c:dPt>
          <c:cat>
            <c:strRef>
              <c:f>'Pivot Tables'!$B$29:$B$32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'Pivot Tables'!$C$29:$C$32</c:f>
              <c:numCache>
                <c:formatCode>0.00%</c:formatCode>
                <c:ptCount val="3"/>
                <c:pt idx="0">
                  <c:v>0.50577555546270725</c:v>
                </c:pt>
                <c:pt idx="1">
                  <c:v>0.30738359591897546</c:v>
                </c:pt>
                <c:pt idx="2">
                  <c:v>0.18684084861831721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CE2-4D08-871C-D080DE406F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500" b="0" i="0" u="none" strike="noStrike" kern="1200" spc="0" baseline="0">
              <a:solidFill>
                <a:srgbClr val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rgbClr val="FF0000"/>
      </a:solidFill>
      <a:round/>
    </a:ln>
    <a:effectLst/>
  </c:spPr>
  <c:txPr>
    <a:bodyPr/>
    <a:lstStyle/>
    <a:p>
      <a:pPr algn="ctr" rtl="0">
        <a:defRPr lang="en-US" sz="1500" b="0" i="0" u="none" strike="noStrike" kern="1200" spc="0" baseline="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[Superstore.xlsx]Pivot Tables!PivotTable2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800" b="0" i="0" u="none" strike="noStrike" kern="1200" spc="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b="1"/>
              <a:t>Region Contribution To 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800" b="0" i="0" u="none" strike="noStrike" kern="1200" spc="0" baseline="0">
              <a:solidFill>
                <a:srgbClr val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9525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9525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9525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Tables'!$C$14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 w="9525">
              <a:solidFill>
                <a:schemeClr val="lt1"/>
              </a:solidFill>
            </a:ln>
            <a:effectLst/>
          </c:spPr>
          <c:invertIfNegative val="0"/>
          <c:cat>
            <c:strRef>
              <c:f>'Pivot Tables'!$B$15:$B$19</c:f>
              <c:strCache>
                <c:ptCount val="4"/>
                <c:pt idx="0">
                  <c:v>Central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'Pivot Tables'!$C$15:$C$19</c:f>
              <c:numCache>
                <c:formatCode>0.00%</c:formatCode>
                <c:ptCount val="4"/>
                <c:pt idx="0">
                  <c:v>0.21835669815908465</c:v>
                </c:pt>
                <c:pt idx="1">
                  <c:v>0.29531846705425219</c:v>
                </c:pt>
                <c:pt idx="2">
                  <c:v>0.1703359592651264</c:v>
                </c:pt>
                <c:pt idx="3">
                  <c:v>0.31598887552153671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13-4799-845D-8F67A2A127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11428623"/>
        <c:axId val="2054160271"/>
      </c:barChart>
      <c:catAx>
        <c:axId val="7114286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500" b="0" i="0" u="none" strike="noStrike" kern="1200" spc="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054160271"/>
        <c:crosses val="autoZero"/>
        <c:auto val="1"/>
        <c:lblAlgn val="ctr"/>
        <c:lblOffset val="100"/>
        <c:noMultiLvlLbl val="0"/>
      </c:catAx>
      <c:valAx>
        <c:axId val="2054160271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500" b="0" i="0" u="none" strike="noStrike" kern="1200" spc="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711428623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lang="en-US" sz="1500" b="0" i="0" u="none" strike="noStrike" kern="1200" spc="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rgbClr val="FF0000"/>
      </a:solidFill>
      <a:round/>
    </a:ln>
    <a:effectLst/>
  </c:spPr>
  <c:txPr>
    <a:bodyPr/>
    <a:lstStyle/>
    <a:p>
      <a:pPr algn="ctr" rtl="0">
        <a:defRPr lang="en-US" sz="1500" b="0" i="0" u="none" strike="noStrike" kern="1200" spc="0" baseline="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[Superstore.xlsx]Pivot Tables!PivotTable1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800" b="0" i="0" u="none" strike="noStrike" kern="1200" spc="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800" b="1" i="0" u="none" strike="noStrike" kern="1200" spc="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Categories Generating Most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800" b="0" i="0" u="none" strike="noStrike" kern="1200" spc="0" baseline="0">
              <a:solidFill>
                <a:srgbClr val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9525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9525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9525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Tables'!$C$3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 w="9525">
              <a:solidFill>
                <a:schemeClr val="lt1"/>
              </a:solidFill>
            </a:ln>
            <a:effectLst/>
          </c:spPr>
          <c:invertIfNegative val="0"/>
          <c:cat>
            <c:strRef>
              <c:f>'Pivot Tables'!$B$4:$B$7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'Pivot Tables'!$C$4:$C$7</c:f>
              <c:numCache>
                <c:formatCode>0.00%</c:formatCode>
                <c:ptCount val="3"/>
                <c:pt idx="0">
                  <c:v>0.32299235526912556</c:v>
                </c:pt>
                <c:pt idx="1">
                  <c:v>0.31292302182834297</c:v>
                </c:pt>
                <c:pt idx="2">
                  <c:v>0.36408462290253146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85-4237-808B-B808B77A3E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66919887"/>
        <c:axId val="2066941007"/>
      </c:barChart>
      <c:catAx>
        <c:axId val="206691988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6941007"/>
        <c:crosses val="autoZero"/>
        <c:auto val="1"/>
        <c:lblAlgn val="ctr"/>
        <c:lblOffset val="100"/>
        <c:noMultiLvlLbl val="0"/>
      </c:catAx>
      <c:valAx>
        <c:axId val="2066941007"/>
        <c:scaling>
          <c:orientation val="minMax"/>
        </c:scaling>
        <c:delete val="0"/>
        <c:axPos val="l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5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066919887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lang="en-US" sz="15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rgbClr val="FF0000"/>
      </a:solidFill>
      <a:round/>
    </a:ln>
    <a:effectLst/>
  </c:spPr>
  <c:txPr>
    <a:bodyPr/>
    <a:lstStyle/>
    <a:p>
      <a:pPr>
        <a:defRPr lang="en-US" sz="10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[Superstore.xlsx]Pivot Tables!PivotTable4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800" b="0" i="0" u="none" strike="noStrike" kern="1200" spc="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/>
              <a:t>Category Profitability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800" b="0" i="0" u="none" strike="noStrike" kern="1200" spc="0" baseline="0">
              <a:solidFill>
                <a:srgbClr val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Tables'!$C$43</c:f>
              <c:strCache>
                <c:ptCount val="1"/>
                <c:pt idx="0">
                  <c:v>Sum of Profit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'Pivot Tables'!$B$44:$B$47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'Pivot Tables'!$C$44:$C$47</c:f>
              <c:numCache>
                <c:formatCode>General</c:formatCode>
                <c:ptCount val="3"/>
                <c:pt idx="0">
                  <c:v>18380.281399999985</c:v>
                </c:pt>
                <c:pt idx="1">
                  <c:v>122247.4038000001</c:v>
                </c:pt>
                <c:pt idx="2">
                  <c:v>145386.13439999981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69-4CA8-8921-BE75C21A204A}"/>
            </c:ext>
          </c:extLst>
        </c:ser>
        <c:ser>
          <c:idx val="1"/>
          <c:order val="1"/>
          <c:tx>
            <c:strRef>
              <c:f>'Pivot Tables'!$D$43</c:f>
              <c:strCache>
                <c:ptCount val="1"/>
                <c:pt idx="0">
                  <c:v>Sum of Sales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'Pivot Tables'!$B$44:$B$47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'Pivot Tables'!$D$44:$D$47</c:f>
              <c:numCache>
                <c:formatCode>General</c:formatCode>
                <c:ptCount val="3"/>
                <c:pt idx="0">
                  <c:v>741432.04329999979</c:v>
                </c:pt>
                <c:pt idx="1">
                  <c:v>718317.79200000293</c:v>
                </c:pt>
                <c:pt idx="2">
                  <c:v>835759.73699999647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369-4CA8-8921-BE75C21A20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99780799"/>
        <c:axId val="2099777439"/>
      </c:barChart>
      <c:catAx>
        <c:axId val="20997807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500" b="0" i="0" u="none" strike="noStrike" kern="1200" spc="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099777439"/>
        <c:crosses val="autoZero"/>
        <c:auto val="1"/>
        <c:lblAlgn val="ctr"/>
        <c:lblOffset val="100"/>
        <c:noMultiLvlLbl val="0"/>
      </c:catAx>
      <c:valAx>
        <c:axId val="209977743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500" b="0" i="0" u="none" strike="noStrike" kern="1200" spc="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099780799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lang="en-US" sz="1500" b="0" i="0" u="none" strike="noStrike" kern="1200" spc="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500" b="0" i="0" u="none" strike="noStrike" kern="1200" spc="0" baseline="0">
              <a:solidFill>
                <a:srgbClr val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rgbClr val="FF0000"/>
      </a:solidFill>
      <a:round/>
    </a:ln>
    <a:effectLst/>
  </c:spPr>
  <c:txPr>
    <a:bodyPr/>
    <a:lstStyle/>
    <a:p>
      <a:pPr algn="ctr" rtl="0">
        <a:defRPr lang="en-US" sz="1500" b="0" i="0" u="none" strike="noStrike" kern="1200" spc="0" baseline="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[Superstore.xlsx]Pivot Tables!PivotTable6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800" b="1" i="0" u="none" strike="noStrike" kern="1200" spc="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b="1"/>
              <a:t>Region Wise Profit Performance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800" b="1" i="0" u="none" strike="noStrike" kern="1200" spc="0" baseline="0">
              <a:solidFill>
                <a:srgbClr val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Tables'!$C$81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'Pivot Tables'!$B$82:$B$86</c:f>
              <c:strCache>
                <c:ptCount val="4"/>
                <c:pt idx="0">
                  <c:v>Central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'Pivot Tables'!$C$82:$C$86</c:f>
              <c:numCache>
                <c:formatCode>General</c:formatCode>
                <c:ptCount val="4"/>
                <c:pt idx="0">
                  <c:v>39706.362499999967</c:v>
                </c:pt>
                <c:pt idx="1">
                  <c:v>91353.882200000269</c:v>
                </c:pt>
                <c:pt idx="2">
                  <c:v>46549.197200000075</c:v>
                </c:pt>
                <c:pt idx="3">
                  <c:v>108404.37770000013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9B-4363-AFAC-EF64DCB1FE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38356527"/>
        <c:axId val="738359407"/>
      </c:barChart>
      <c:catAx>
        <c:axId val="73835652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500" b="0" i="0" u="none" strike="noStrike" kern="1200" spc="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738359407"/>
        <c:crosses val="autoZero"/>
        <c:auto val="1"/>
        <c:lblAlgn val="ctr"/>
        <c:lblOffset val="100"/>
        <c:noMultiLvlLbl val="0"/>
      </c:catAx>
      <c:valAx>
        <c:axId val="7383594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500" b="0" i="0" u="none" strike="noStrike" kern="1200" spc="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738356527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lang="en-US" sz="1500" b="0" i="0" u="none" strike="noStrike" kern="1200" spc="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rgbClr val="FF0000"/>
      </a:solidFill>
      <a:round/>
    </a:ln>
    <a:effectLst/>
  </c:spPr>
  <c:txPr>
    <a:bodyPr/>
    <a:lstStyle/>
    <a:p>
      <a:pPr algn="ctr" rtl="0">
        <a:defRPr lang="en-US" sz="1500" b="0" i="0" u="none" strike="noStrike" kern="1200" spc="0" baseline="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[Superstore.xlsx]Pivot Tables!PivotTable5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800" b="1" i="0" u="none" strike="noStrike" kern="1200" spc="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b="1"/>
              <a:t>Loss-Making Sub-Categories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800" b="1" i="0" u="none" strike="noStrike" kern="1200" spc="0" baseline="0">
              <a:solidFill>
                <a:srgbClr val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'Pivot Tables'!$C$55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'Pivot Tables'!$B$56:$B$73</c:f>
              <c:strCache>
                <c:ptCount val="17"/>
                <c:pt idx="0">
                  <c:v>Tables</c:v>
                </c:pt>
                <c:pt idx="1">
                  <c:v>Bookcases</c:v>
                </c:pt>
                <c:pt idx="2">
                  <c:v>Supplies</c:v>
                </c:pt>
                <c:pt idx="3">
                  <c:v>Fasteners</c:v>
                </c:pt>
                <c:pt idx="4">
                  <c:v>Machines</c:v>
                </c:pt>
                <c:pt idx="5">
                  <c:v>Labels</c:v>
                </c:pt>
                <c:pt idx="6">
                  <c:v>Art</c:v>
                </c:pt>
                <c:pt idx="7">
                  <c:v>Envelopes</c:v>
                </c:pt>
                <c:pt idx="8">
                  <c:v>Furnishings</c:v>
                </c:pt>
                <c:pt idx="9">
                  <c:v>Appliances</c:v>
                </c:pt>
                <c:pt idx="10">
                  <c:v>Storage</c:v>
                </c:pt>
                <c:pt idx="11">
                  <c:v>Chairs</c:v>
                </c:pt>
                <c:pt idx="12">
                  <c:v>Binders</c:v>
                </c:pt>
                <c:pt idx="13">
                  <c:v>Paper</c:v>
                </c:pt>
                <c:pt idx="14">
                  <c:v>Accessories</c:v>
                </c:pt>
                <c:pt idx="15">
                  <c:v>Phones</c:v>
                </c:pt>
                <c:pt idx="16">
                  <c:v>Copiers</c:v>
                </c:pt>
              </c:strCache>
            </c:strRef>
          </c:cat>
          <c:val>
            <c:numRef>
              <c:f>'Pivot Tables'!$C$56:$C$73</c:f>
              <c:numCache>
                <c:formatCode>General</c:formatCode>
                <c:ptCount val="17"/>
                <c:pt idx="0">
                  <c:v>-17725.481100000001</c:v>
                </c:pt>
                <c:pt idx="1">
                  <c:v>-3472.5560000000023</c:v>
                </c:pt>
                <c:pt idx="2">
                  <c:v>-1189.0994999999991</c:v>
                </c:pt>
                <c:pt idx="3">
                  <c:v>949.51819999999952</c:v>
                </c:pt>
                <c:pt idx="4">
                  <c:v>3384.7568999999889</c:v>
                </c:pt>
                <c:pt idx="5">
                  <c:v>5546.2539999999981</c:v>
                </c:pt>
                <c:pt idx="6">
                  <c:v>6527.7869999999994</c:v>
                </c:pt>
                <c:pt idx="7">
                  <c:v>6964.1767000000027</c:v>
                </c:pt>
                <c:pt idx="8">
                  <c:v>12976.093399999983</c:v>
                </c:pt>
                <c:pt idx="9">
                  <c:v>18138.005399999995</c:v>
                </c:pt>
                <c:pt idx="10">
                  <c:v>21120.95619999999</c:v>
                </c:pt>
                <c:pt idx="11">
                  <c:v>26602.225100000018</c:v>
                </c:pt>
                <c:pt idx="12">
                  <c:v>30180.335699999981</c:v>
                </c:pt>
                <c:pt idx="13">
                  <c:v>34009.470099999962</c:v>
                </c:pt>
                <c:pt idx="14">
                  <c:v>41867.821999999927</c:v>
                </c:pt>
                <c:pt idx="15">
                  <c:v>44515.730599999988</c:v>
                </c:pt>
                <c:pt idx="16">
                  <c:v>55617.8249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86-4B92-96B7-638E9E866D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842159199"/>
        <c:axId val="842171679"/>
      </c:barChart>
      <c:catAx>
        <c:axId val="842159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500" b="0" i="0" u="none" strike="noStrike" kern="1200" spc="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842171679"/>
        <c:crosses val="autoZero"/>
        <c:auto val="1"/>
        <c:lblAlgn val="ctr"/>
        <c:lblOffset val="100"/>
        <c:noMultiLvlLbl val="0"/>
      </c:catAx>
      <c:valAx>
        <c:axId val="8421716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500" b="0" i="0" u="none" strike="noStrike" kern="1200" spc="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842159199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lang="en-US" sz="1500" b="0" i="0" u="none" strike="noStrike" kern="1200" spc="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rgbClr val="FF0000"/>
      </a:solidFill>
      <a:round/>
    </a:ln>
    <a:effectLst/>
  </c:spPr>
  <c:txPr>
    <a:bodyPr/>
    <a:lstStyle/>
    <a:p>
      <a:pPr algn="ctr" rtl="0">
        <a:defRPr lang="en-US" sz="1500" b="0" i="0" u="none" strike="noStrike" kern="1200" spc="0" baseline="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[Superstore.xlsx]Pivot Tables!PivotTable7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800" b="1" i="0" u="none" strike="noStrike" kern="1200" spc="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b="1"/>
              <a:t>Discount Vs Sales</a:t>
            </a:r>
          </a:p>
          <a:p>
            <a:pPr>
              <a:defRPr b="1"/>
            </a:pPr>
            <a:r>
              <a:rPr lang="en-US" b="1"/>
              <a:t>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800" b="1" i="0" u="none" strike="noStrike" kern="1200" spc="0" baseline="0">
              <a:solidFill>
                <a:srgbClr val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Tables'!$C$93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'Pivot Tables'!$B$94:$B$98</c:f>
              <c:strCache>
                <c:ptCount val="4"/>
                <c:pt idx="0">
                  <c:v>0-20%</c:v>
                </c:pt>
                <c:pt idx="1">
                  <c:v>20-40%</c:v>
                </c:pt>
                <c:pt idx="2">
                  <c:v>40-60%</c:v>
                </c:pt>
                <c:pt idx="3">
                  <c:v>60-80%</c:v>
                </c:pt>
              </c:strCache>
            </c:strRef>
          </c:cat>
          <c:val>
            <c:numRef>
              <c:f>'Pivot Tables'!$C$94:$C$98</c:f>
              <c:numCache>
                <c:formatCode>General</c:formatCode>
                <c:ptCount val="4"/>
                <c:pt idx="0">
                  <c:v>1168820.7224999855</c:v>
                </c:pt>
                <c:pt idx="1">
                  <c:v>881638.81380000326</c:v>
                </c:pt>
                <c:pt idx="2">
                  <c:v>180821.29800000013</c:v>
                </c:pt>
                <c:pt idx="3">
                  <c:v>64228.73800000007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7A-4EEF-B2D5-EC3E290468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48449775"/>
        <c:axId val="848457935"/>
      </c:barChart>
      <c:catAx>
        <c:axId val="8484497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500" b="0" i="0" u="none" strike="noStrike" kern="1200" spc="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848457935"/>
        <c:crosses val="autoZero"/>
        <c:auto val="1"/>
        <c:lblAlgn val="ctr"/>
        <c:lblOffset val="100"/>
        <c:noMultiLvlLbl val="0"/>
      </c:catAx>
      <c:valAx>
        <c:axId val="84845793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500" b="0" i="0" u="none" strike="noStrike" kern="1200" spc="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848449775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lang="en-US" sz="1500" b="0" i="0" u="none" strike="noStrike" kern="1200" spc="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rgbClr val="FF0000"/>
      </a:solidFill>
      <a:round/>
    </a:ln>
    <a:effectLst/>
  </c:spPr>
  <c:txPr>
    <a:bodyPr/>
    <a:lstStyle/>
    <a:p>
      <a:pPr algn="ctr" rtl="0">
        <a:defRPr lang="en-US" sz="1500" b="0" i="0" u="none" strike="noStrike" kern="1200" spc="0" baseline="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[Superstore.xlsx]Pivot Tables!PivotTable8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800" b="1" i="0" u="none" strike="noStrike" kern="1200" spc="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b="1"/>
              <a:t>Discount Vs Profit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800" b="1" i="0" u="none" strike="noStrike" kern="1200" spc="0" baseline="0">
              <a:solidFill>
                <a:srgbClr val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5958814771063284"/>
          <c:y val="2.8555130672201723E-2"/>
          <c:w val="0.91459104988148043"/>
          <c:h val="0.6658603899231393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Tables'!$C$106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'Pivot Tables'!$B$107:$B$111</c:f>
              <c:strCache>
                <c:ptCount val="4"/>
                <c:pt idx="0">
                  <c:v>0-20%</c:v>
                </c:pt>
                <c:pt idx="1">
                  <c:v>20-40%</c:v>
                </c:pt>
                <c:pt idx="2">
                  <c:v>40-60%</c:v>
                </c:pt>
                <c:pt idx="3">
                  <c:v>60-80%</c:v>
                </c:pt>
              </c:strCache>
            </c:strRef>
          </c:cat>
          <c:val>
            <c:numRef>
              <c:f>'Pivot Tables'!$C$107:$C$111</c:f>
              <c:numCache>
                <c:formatCode>General</c:formatCode>
                <c:ptCount val="4"/>
                <c:pt idx="0">
                  <c:v>331109.32449999964</c:v>
                </c:pt>
                <c:pt idx="1">
                  <c:v>77520.13600000013</c:v>
                </c:pt>
                <c:pt idx="2">
                  <c:v>-46056.589599999999</c:v>
                </c:pt>
                <c:pt idx="3">
                  <c:v>-76559.051300000036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19-4B1D-B2C0-FBF92F471E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66929967"/>
        <c:axId val="2066937647"/>
      </c:barChart>
      <c:catAx>
        <c:axId val="20669299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500" b="0" i="0" u="none" strike="noStrike" kern="1200" spc="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066937647"/>
        <c:crosses val="autoZero"/>
        <c:auto val="1"/>
        <c:lblAlgn val="ctr"/>
        <c:lblOffset val="100"/>
        <c:noMultiLvlLbl val="0"/>
      </c:catAx>
      <c:valAx>
        <c:axId val="206693764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500" b="0" i="0" u="none" strike="noStrike" kern="1200" spc="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066929967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lang="en-US" sz="1500" b="0" i="0" u="none" strike="noStrike" kern="1200" spc="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rgbClr val="FF0000"/>
      </a:solidFill>
      <a:round/>
    </a:ln>
    <a:effectLst/>
  </c:spPr>
  <c:txPr>
    <a:bodyPr/>
    <a:lstStyle/>
    <a:p>
      <a:pPr algn="ctr" rtl="0">
        <a:defRPr lang="en-US" sz="1500" b="0" i="0" u="none" strike="noStrike" kern="1200" spc="0" baseline="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pivotSource>
    <c:name>[Superstore.xlsx]Pivot Tables!PivotTable11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800" b="1" i="0" u="none" strike="noStrike" kern="1200" spc="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b="1"/>
              <a:t>Top 10 Profitable Products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800" b="1" i="0" u="none" strike="noStrike" kern="1200" spc="0" baseline="0">
              <a:solidFill>
                <a:srgbClr val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'Pivot Tables'!$C$151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dk1">
                <a:tint val="88000"/>
              </a:schemeClr>
            </a:solidFill>
            <a:ln>
              <a:noFill/>
            </a:ln>
            <a:effectLst/>
          </c:spPr>
          <c:invertIfNegative val="0"/>
          <c:cat>
            <c:strRef>
              <c:f>'Pivot Tables'!$B$152:$B$162</c:f>
              <c:strCache>
                <c:ptCount val="10"/>
                <c:pt idx="0">
                  <c:v>Canon imageCLASS 2200 Advanced Copier</c:v>
                </c:pt>
                <c:pt idx="1">
                  <c:v>Fellowes PB500 Electric Punch Plastic Comb Binding Machine with Manual Bind</c:v>
                </c:pt>
                <c:pt idx="2">
                  <c:v>Hewlett Packard LaserJet 3310 Copier</c:v>
                </c:pt>
                <c:pt idx="3">
                  <c:v>Canon PC1060 Personal Laser Copier</c:v>
                </c:pt>
                <c:pt idx="4">
                  <c:v>HP Designjet T520 Inkjet Large Format Printer - 24" Color</c:v>
                </c:pt>
                <c:pt idx="5">
                  <c:v>Ativa V4110MDD Micro-Cut Shredder</c:v>
                </c:pt>
                <c:pt idx="6">
                  <c:v>3D Systems Cube Printer, 2nd Generation, Magenta</c:v>
                </c:pt>
                <c:pt idx="7">
                  <c:v>Plantronics Savi W720 Multi-Device Wireless Headset System</c:v>
                </c:pt>
                <c:pt idx="8">
                  <c:v>Ibico EPK-21 Electric Binding System</c:v>
                </c:pt>
                <c:pt idx="9">
                  <c:v>Zebra ZM400 Thermal Label Printer</c:v>
                </c:pt>
              </c:strCache>
            </c:strRef>
          </c:cat>
          <c:val>
            <c:numRef>
              <c:f>'Pivot Tables'!$C$152:$C$162</c:f>
              <c:numCache>
                <c:formatCode>General</c:formatCode>
                <c:ptCount val="10"/>
                <c:pt idx="0">
                  <c:v>25199.927999999993</c:v>
                </c:pt>
                <c:pt idx="1">
                  <c:v>7753.0389999999998</c:v>
                </c:pt>
                <c:pt idx="2">
                  <c:v>6983.8836000000001</c:v>
                </c:pt>
                <c:pt idx="3">
                  <c:v>4570.9346999999998</c:v>
                </c:pt>
                <c:pt idx="4">
                  <c:v>4094.9765999999986</c:v>
                </c:pt>
                <c:pt idx="5">
                  <c:v>3772.9460999999997</c:v>
                </c:pt>
                <c:pt idx="6">
                  <c:v>3717.9713999999994</c:v>
                </c:pt>
                <c:pt idx="7">
                  <c:v>3696.2820000000006</c:v>
                </c:pt>
                <c:pt idx="8">
                  <c:v>3345.2822999999999</c:v>
                </c:pt>
                <c:pt idx="9">
                  <c:v>3343.5360000000001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3D-4804-9391-3DA014FD8B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96382576"/>
        <c:axId val="96391216"/>
      </c:barChart>
      <c:catAx>
        <c:axId val="9638257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500" b="0" i="0" u="none" strike="noStrike" kern="1200" spc="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96391216"/>
        <c:crosses val="autoZero"/>
        <c:auto val="1"/>
        <c:lblAlgn val="ctr"/>
        <c:lblOffset val="100"/>
        <c:noMultiLvlLbl val="0"/>
      </c:catAx>
      <c:valAx>
        <c:axId val="963912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500" b="0" i="0" u="none" strike="noStrike" kern="1200" spc="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9638257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lang="en-US" sz="1500" b="0" i="0" u="none" strike="noStrike" kern="1200" spc="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rgbClr val="FF0000"/>
      </a:solidFill>
      <a:round/>
    </a:ln>
    <a:effectLst/>
  </c:spPr>
  <c:txPr>
    <a:bodyPr/>
    <a:lstStyle/>
    <a:p>
      <a:pPr algn="ctr" rtl="0">
        <a:defRPr lang="en-US" sz="1500" b="0" i="0" u="none" strike="noStrike" kern="1200" spc="0" baseline="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[Superstore.xlsx]Pivot Tables!PivotTable12</c:name>
    <c:fmtId val="3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"/>
                <a:ea typeface="+mn-ea"/>
                <a:cs typeface="+mn-cs"/>
              </a:defRPr>
            </a:pPr>
            <a:r>
              <a:rPr lang="en-US" sz="1800" b="1">
                <a:latin typeface="Arial "/>
              </a:rPr>
              <a:t>Top 10 Loss-Making Products</a:t>
            </a:r>
          </a:p>
        </c:rich>
      </c:tx>
      <c:layout>
        <c:manualLayout>
          <c:xMode val="edge"/>
          <c:yMode val="edge"/>
          <c:x val="0.4803310130039038"/>
          <c:y val="0.1921161121389077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 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1.7857393310827249E-2"/>
          <c:y val="1.0111340927499492E-2"/>
          <c:w val="0.98213780161703368"/>
          <c:h val="0.8705984673935180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Tables'!$C$168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'Pivot Tables'!$B$169:$B$179</c:f>
              <c:strCache>
                <c:ptCount val="10"/>
                <c:pt idx="0">
                  <c:v>Cubify CubeX 3D Printer Double Head Print</c:v>
                </c:pt>
                <c:pt idx="1">
                  <c:v>Lexmark MX611dhe Monochrome Laser Printer</c:v>
                </c:pt>
                <c:pt idx="2">
                  <c:v>Cubify CubeX 3D Printer Triple Head Print</c:v>
                </c:pt>
                <c:pt idx="3">
                  <c:v>Chromcraft Bull-Nose Wood Oval Conference Tables &amp; Bases</c:v>
                </c:pt>
                <c:pt idx="4">
                  <c:v>Bush Advantage Collection Racetrack Conference Table</c:v>
                </c:pt>
                <c:pt idx="5">
                  <c:v>GBC DocuBind P400 Electric Binding System</c:v>
                </c:pt>
                <c:pt idx="6">
                  <c:v>Cisco TelePresence System EX90 Videoconferencing Unit</c:v>
                </c:pt>
                <c:pt idx="7">
                  <c:v>Martin Yale Chadless Opener Electric Letter Opener</c:v>
                </c:pt>
                <c:pt idx="8">
                  <c:v>Balt Solid Wood Round Tables</c:v>
                </c:pt>
                <c:pt idx="9">
                  <c:v>BoxOffice By Design Rectangular and Half-Moon Meeting Room Tables</c:v>
                </c:pt>
              </c:strCache>
            </c:strRef>
          </c:cat>
          <c:val>
            <c:numRef>
              <c:f>'Pivot Tables'!$C$169:$C$179</c:f>
              <c:numCache>
                <c:formatCode>General</c:formatCode>
                <c:ptCount val="10"/>
                <c:pt idx="0">
                  <c:v>-8879.970400000002</c:v>
                </c:pt>
                <c:pt idx="1">
                  <c:v>-4589.9730000000036</c:v>
                </c:pt>
                <c:pt idx="2">
                  <c:v>-3839.9903999999988</c:v>
                </c:pt>
                <c:pt idx="3">
                  <c:v>-2876.1156000000005</c:v>
                </c:pt>
                <c:pt idx="4">
                  <c:v>-1934.3975999999998</c:v>
                </c:pt>
                <c:pt idx="5">
                  <c:v>-1878.1662000000028</c:v>
                </c:pt>
                <c:pt idx="6">
                  <c:v>-1811.0784000000021</c:v>
                </c:pt>
                <c:pt idx="7">
                  <c:v>-1299.1835999999998</c:v>
                </c:pt>
                <c:pt idx="8">
                  <c:v>-1201.0581</c:v>
                </c:pt>
                <c:pt idx="9">
                  <c:v>-1148.4375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3B-4C9E-8F76-E354580D26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90561936"/>
        <c:axId val="90562416"/>
      </c:barChart>
      <c:catAx>
        <c:axId val="90561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562416"/>
        <c:crosses val="autoZero"/>
        <c:auto val="1"/>
        <c:lblAlgn val="ctr"/>
        <c:lblOffset val="100"/>
        <c:noMultiLvlLbl val="0"/>
      </c:catAx>
      <c:valAx>
        <c:axId val="905624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"/>
                <a:ea typeface="+mn-ea"/>
                <a:cs typeface="+mn-cs"/>
              </a:defRPr>
            </a:pPr>
            <a:endParaRPr lang="en-US"/>
          </a:p>
        </c:txPr>
        <c:crossAx val="9056193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rgbClr val="FF000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[Superstore.xlsx]Pivot Tables!PivotTable15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800" b="1" i="0" u="none" strike="noStrike" kern="1200" spc="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b="1"/>
              <a:t>Region Vs Category Performance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800" b="1" i="0" u="none" strike="noStrike" kern="1200" spc="0" baseline="0">
              <a:solidFill>
                <a:srgbClr val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0" i="0" u="none" strike="noStrike" kern="1200" spc="0" baseline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Tables'!$C$223:$C$224</c:f>
              <c:strCache>
                <c:ptCount val="1"/>
                <c:pt idx="0">
                  <c:v>Central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'Pivot Tables'!$B$225:$B$228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'Pivot Tables'!$C$225:$C$228</c:f>
              <c:numCache>
                <c:formatCode>General</c:formatCode>
                <c:ptCount val="3"/>
                <c:pt idx="0">
                  <c:v>-2871.049400000004</c:v>
                </c:pt>
                <c:pt idx="1">
                  <c:v>8879.9798999999857</c:v>
                </c:pt>
                <c:pt idx="2">
                  <c:v>33697.431999999979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EA-4263-81DF-65B764C3CBBC}"/>
            </c:ext>
          </c:extLst>
        </c:ser>
        <c:ser>
          <c:idx val="1"/>
          <c:order val="1"/>
          <c:tx>
            <c:strRef>
              <c:f>'Pivot Tables'!$D$223:$D$224</c:f>
              <c:strCache>
                <c:ptCount val="1"/>
                <c:pt idx="0">
                  <c:v>East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'Pivot Tables'!$B$225:$B$228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'Pivot Tables'!$D$225:$D$228</c:f>
              <c:numCache>
                <c:formatCode>General</c:formatCode>
                <c:ptCount val="3"/>
                <c:pt idx="0">
                  <c:v>3058.2245999999991</c:v>
                </c:pt>
                <c:pt idx="1">
                  <c:v>40833.622499999976</c:v>
                </c:pt>
                <c:pt idx="2">
                  <c:v>47462.035099999921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0EA-4263-81DF-65B764C3CBBC}"/>
            </c:ext>
          </c:extLst>
        </c:ser>
        <c:ser>
          <c:idx val="2"/>
          <c:order val="2"/>
          <c:tx>
            <c:strRef>
              <c:f>'Pivot Tables'!$E$223:$E$224</c:f>
              <c:strCache>
                <c:ptCount val="1"/>
                <c:pt idx="0">
                  <c:v>South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'Pivot Tables'!$B$225:$B$228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'Pivot Tables'!$E$225:$E$228</c:f>
              <c:numCache>
                <c:formatCode>General</c:formatCode>
                <c:ptCount val="3"/>
                <c:pt idx="0">
                  <c:v>6688.1558999999934</c:v>
                </c:pt>
                <c:pt idx="1">
                  <c:v>19923.952399999966</c:v>
                </c:pt>
                <c:pt idx="2">
                  <c:v>19937.088899999999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0EA-4263-81DF-65B764C3CBBC}"/>
            </c:ext>
          </c:extLst>
        </c:ser>
        <c:ser>
          <c:idx val="3"/>
          <c:order val="3"/>
          <c:tx>
            <c:strRef>
              <c:f>'Pivot Tables'!$F$223:$F$224</c:f>
              <c:strCache>
                <c:ptCount val="1"/>
                <c:pt idx="0">
                  <c:v>West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'Pivot Tables'!$B$225:$B$228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'Pivot Tables'!$F$225:$F$228</c:f>
              <c:numCache>
                <c:formatCode>General</c:formatCode>
                <c:ptCount val="3"/>
                <c:pt idx="0">
                  <c:v>11504.950299999995</c:v>
                </c:pt>
                <c:pt idx="1">
                  <c:v>52609.849000000155</c:v>
                </c:pt>
                <c:pt idx="2">
                  <c:v>44289.578399999955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0EA-4263-81DF-65B764C3CB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647136"/>
        <c:axId val="45659136"/>
      </c:barChart>
      <c:catAx>
        <c:axId val="456471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500" b="0" i="0" u="none" strike="noStrike" kern="1200" spc="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45659136"/>
        <c:crosses val="autoZero"/>
        <c:auto val="1"/>
        <c:lblAlgn val="ctr"/>
        <c:lblOffset val="100"/>
        <c:noMultiLvlLbl val="0"/>
      </c:catAx>
      <c:valAx>
        <c:axId val="4565913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500" b="0" i="0" u="none" strike="noStrike" kern="1200" spc="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4564713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lang="en-US" sz="1500" b="0" i="0" u="none" strike="noStrike" kern="1200" spc="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500" b="0" i="0" u="none" strike="noStrike" kern="1200" spc="0" baseline="0">
              <a:solidFill>
                <a:srgbClr val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rgbClr val="FF0000"/>
      </a:solidFill>
      <a:round/>
    </a:ln>
    <a:effectLst/>
  </c:spPr>
  <c:txPr>
    <a:bodyPr/>
    <a:lstStyle/>
    <a:p>
      <a:pPr algn="ctr" rtl="0">
        <a:defRPr lang="en-US" sz="1500" b="0" i="0" u="none" strike="noStrike" kern="1200" spc="0" baseline="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acrossLinear" id="1">
  <a:schemeClr val="dk1">
    <a:tint val="88000"/>
  </a:schemeClr>
  <a:schemeClr val="dk1">
    <a:tint val="55000"/>
  </a:schemeClr>
  <a:schemeClr val="dk1">
    <a:tint val="78000"/>
  </a:schemeClr>
  <a:schemeClr val="dk1">
    <a:tint val="92000"/>
  </a:schemeClr>
  <a:schemeClr val="dk1">
    <a:tint val="70000"/>
  </a:schemeClr>
  <a:schemeClr val="dk1">
    <a:tint val="30000"/>
  </a:schemeClr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26F957-A21D-4467-B39A-9E4062C5F396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14DCFCE-C53F-45CE-A3EF-0057DFB53519}">
      <dgm:prSet/>
      <dgm:spPr/>
      <dgm:t>
        <a:bodyPr/>
        <a:lstStyle/>
        <a:p>
          <a:r>
            <a:rPr lang="en-US" dirty="0"/>
            <a:t>Strong Revenue but Weak Profitability </a:t>
          </a:r>
        </a:p>
      </dgm:t>
    </dgm:pt>
    <dgm:pt modelId="{1C1F2B21-8F98-401D-8F47-D2FF397CD0E4}" type="parTrans" cxnId="{F79C0952-3DEB-47AD-810F-48E37DA25C81}">
      <dgm:prSet/>
      <dgm:spPr/>
      <dgm:t>
        <a:bodyPr/>
        <a:lstStyle/>
        <a:p>
          <a:endParaRPr lang="en-US"/>
        </a:p>
      </dgm:t>
    </dgm:pt>
    <dgm:pt modelId="{64811EAF-0719-4CCB-A3B1-87510A042523}" type="sibTrans" cxnId="{F79C0952-3DEB-47AD-810F-48E37DA25C81}">
      <dgm:prSet/>
      <dgm:spPr/>
      <dgm:t>
        <a:bodyPr/>
        <a:lstStyle/>
        <a:p>
          <a:endParaRPr lang="en-US"/>
        </a:p>
      </dgm:t>
    </dgm:pt>
    <dgm:pt modelId="{3AD09C3E-03E0-4778-A652-4C1CDB77F57A}">
      <dgm:prSet/>
      <dgm:spPr/>
      <dgm:t>
        <a:bodyPr/>
        <a:lstStyle/>
        <a:p>
          <a:r>
            <a:rPr lang="en-US" dirty="0"/>
            <a:t>Discounts are Reducing Profit </a:t>
          </a:r>
        </a:p>
      </dgm:t>
    </dgm:pt>
    <dgm:pt modelId="{B72ED418-A8E7-42C5-9DFB-6205BE9C747F}" type="parTrans" cxnId="{4B996FFC-E3E2-4D72-912A-7959A5117F02}">
      <dgm:prSet/>
      <dgm:spPr/>
      <dgm:t>
        <a:bodyPr/>
        <a:lstStyle/>
        <a:p>
          <a:endParaRPr lang="en-US"/>
        </a:p>
      </dgm:t>
    </dgm:pt>
    <dgm:pt modelId="{E8106E2E-DE4B-4173-9723-C43FD75A0C69}" type="sibTrans" cxnId="{4B996FFC-E3E2-4D72-912A-7959A5117F02}">
      <dgm:prSet/>
      <dgm:spPr/>
      <dgm:t>
        <a:bodyPr/>
        <a:lstStyle/>
        <a:p>
          <a:endParaRPr lang="en-US"/>
        </a:p>
      </dgm:t>
    </dgm:pt>
    <dgm:pt modelId="{299A6F02-652F-494B-B8AB-955E57DC4F8F}">
      <dgm:prSet/>
      <dgm:spPr/>
      <dgm:t>
        <a:bodyPr/>
        <a:lstStyle/>
        <a:p>
          <a:r>
            <a:rPr lang="en-US" dirty="0"/>
            <a:t>Technology is High-Performing </a:t>
          </a:r>
        </a:p>
      </dgm:t>
    </dgm:pt>
    <dgm:pt modelId="{70E18CD2-79F6-4B44-9730-6141582CA185}" type="parTrans" cxnId="{37C61B69-BCF0-4BC3-A369-1197D34FB036}">
      <dgm:prSet/>
      <dgm:spPr/>
      <dgm:t>
        <a:bodyPr/>
        <a:lstStyle/>
        <a:p>
          <a:endParaRPr lang="en-US"/>
        </a:p>
      </dgm:t>
    </dgm:pt>
    <dgm:pt modelId="{705E542D-EE42-4DA6-815A-106DEC080595}" type="sibTrans" cxnId="{37C61B69-BCF0-4BC3-A369-1197D34FB036}">
      <dgm:prSet/>
      <dgm:spPr/>
      <dgm:t>
        <a:bodyPr/>
        <a:lstStyle/>
        <a:p>
          <a:endParaRPr lang="en-US"/>
        </a:p>
      </dgm:t>
    </dgm:pt>
    <dgm:pt modelId="{E9471002-37D4-4B7B-90B6-4235DF6D1FD4}">
      <dgm:prSet/>
      <dgm:spPr/>
      <dgm:t>
        <a:bodyPr/>
        <a:lstStyle/>
        <a:p>
          <a:r>
            <a:rPr lang="en-US" dirty="0"/>
            <a:t>Central Region is Underperforming </a:t>
          </a:r>
        </a:p>
      </dgm:t>
    </dgm:pt>
    <dgm:pt modelId="{51EC8562-BCD2-4DA7-A2F4-5A764C68CCC7}" type="parTrans" cxnId="{04943813-7307-410E-BE5C-D228E4129451}">
      <dgm:prSet/>
      <dgm:spPr/>
      <dgm:t>
        <a:bodyPr/>
        <a:lstStyle/>
        <a:p>
          <a:endParaRPr lang="en-US"/>
        </a:p>
      </dgm:t>
    </dgm:pt>
    <dgm:pt modelId="{9A0DC4FA-BAA9-45D1-8911-A42C293AD12B}" type="sibTrans" cxnId="{04943813-7307-410E-BE5C-D228E4129451}">
      <dgm:prSet/>
      <dgm:spPr/>
      <dgm:t>
        <a:bodyPr/>
        <a:lstStyle/>
        <a:p>
          <a:endParaRPr lang="en-US"/>
        </a:p>
      </dgm:t>
    </dgm:pt>
    <dgm:pt modelId="{DD32EF6D-0BC0-4DF9-A6D3-D30527536BC4}">
      <dgm:prSet/>
      <dgm:spPr/>
      <dgm:t>
        <a:bodyPr/>
        <a:lstStyle/>
        <a:p>
          <a:r>
            <a:rPr lang="en-US" dirty="0"/>
            <a:t>Furniture Category is Loss-Making </a:t>
          </a:r>
        </a:p>
      </dgm:t>
    </dgm:pt>
    <dgm:pt modelId="{AC91F6AD-0ABC-4B4A-AA4B-4DDB7836E00D}" type="sibTrans" cxnId="{12C53C7D-B2AD-4EC6-A2D9-28F11BB5ACE1}">
      <dgm:prSet/>
      <dgm:spPr/>
      <dgm:t>
        <a:bodyPr/>
        <a:lstStyle/>
        <a:p>
          <a:endParaRPr lang="en-US"/>
        </a:p>
      </dgm:t>
    </dgm:pt>
    <dgm:pt modelId="{531F8A5A-BF2F-4AE3-920E-085D8A4A281B}" type="parTrans" cxnId="{12C53C7D-B2AD-4EC6-A2D9-28F11BB5ACE1}">
      <dgm:prSet/>
      <dgm:spPr/>
      <dgm:t>
        <a:bodyPr/>
        <a:lstStyle/>
        <a:p>
          <a:endParaRPr lang="en-US"/>
        </a:p>
      </dgm:t>
    </dgm:pt>
    <dgm:pt modelId="{94C7D1BD-F533-49C9-AE1C-81E066C11A3C}" type="pres">
      <dgm:prSet presAssocID="{5B26F957-A21D-4467-B39A-9E4062C5F396}" presName="linear" presStyleCnt="0">
        <dgm:presLayoutVars>
          <dgm:animLvl val="lvl"/>
          <dgm:resizeHandles val="exact"/>
        </dgm:presLayoutVars>
      </dgm:prSet>
      <dgm:spPr/>
    </dgm:pt>
    <dgm:pt modelId="{2CACE128-F3F2-4551-B374-524FD2825640}" type="pres">
      <dgm:prSet presAssocID="{714DCFCE-C53F-45CE-A3EF-0057DFB5351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1FFF945-802D-48A9-93B9-256E9C4DD620}" type="pres">
      <dgm:prSet presAssocID="{64811EAF-0719-4CCB-A3B1-87510A042523}" presName="spacer" presStyleCnt="0"/>
      <dgm:spPr/>
    </dgm:pt>
    <dgm:pt modelId="{214EE8C8-D62A-4DBE-A521-D1A2D2A2E096}" type="pres">
      <dgm:prSet presAssocID="{3AD09C3E-03E0-4778-A652-4C1CDB77F57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1FC19E3-9E88-430B-A511-0348F008FCEB}" type="pres">
      <dgm:prSet presAssocID="{E8106E2E-DE4B-4173-9723-C43FD75A0C69}" presName="spacer" presStyleCnt="0"/>
      <dgm:spPr/>
    </dgm:pt>
    <dgm:pt modelId="{498CE7D4-4079-4777-AA58-942B80048F7A}" type="pres">
      <dgm:prSet presAssocID="{DD32EF6D-0BC0-4DF9-A6D3-D30527536BC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3AD5C8B-FD8C-4CAD-8E28-7FCF1BE37C7F}" type="pres">
      <dgm:prSet presAssocID="{AC91F6AD-0ABC-4B4A-AA4B-4DDB7836E00D}" presName="spacer" presStyleCnt="0"/>
      <dgm:spPr/>
    </dgm:pt>
    <dgm:pt modelId="{D9784C14-0DAD-4B03-AD94-2459FBB843FA}" type="pres">
      <dgm:prSet presAssocID="{299A6F02-652F-494B-B8AB-955E57DC4F8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7AC5900-1B80-401E-B161-04FF4D81D5AD}" type="pres">
      <dgm:prSet presAssocID="{705E542D-EE42-4DA6-815A-106DEC080595}" presName="spacer" presStyleCnt="0"/>
      <dgm:spPr/>
    </dgm:pt>
    <dgm:pt modelId="{3F731274-7DE5-4006-93D3-1940DF330F85}" type="pres">
      <dgm:prSet presAssocID="{E9471002-37D4-4B7B-90B6-4235DF6D1FD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D90A403-C03A-4557-AF74-3361959A3A7B}" type="presOf" srcId="{DD32EF6D-0BC0-4DF9-A6D3-D30527536BC4}" destId="{498CE7D4-4079-4777-AA58-942B80048F7A}" srcOrd="0" destOrd="0" presId="urn:microsoft.com/office/officeart/2005/8/layout/vList2"/>
    <dgm:cxn modelId="{04943813-7307-410E-BE5C-D228E4129451}" srcId="{5B26F957-A21D-4467-B39A-9E4062C5F396}" destId="{E9471002-37D4-4B7B-90B6-4235DF6D1FD4}" srcOrd="4" destOrd="0" parTransId="{51EC8562-BCD2-4DA7-A2F4-5A764C68CCC7}" sibTransId="{9A0DC4FA-BAA9-45D1-8911-A42C293AD12B}"/>
    <dgm:cxn modelId="{C18F6A3E-BBD6-47C4-9643-AEE7235EF2E8}" type="presOf" srcId="{E9471002-37D4-4B7B-90B6-4235DF6D1FD4}" destId="{3F731274-7DE5-4006-93D3-1940DF330F85}" srcOrd="0" destOrd="0" presId="urn:microsoft.com/office/officeart/2005/8/layout/vList2"/>
    <dgm:cxn modelId="{7AACE260-D890-40F3-B0B8-AD110579E759}" type="presOf" srcId="{714DCFCE-C53F-45CE-A3EF-0057DFB53519}" destId="{2CACE128-F3F2-4551-B374-524FD2825640}" srcOrd="0" destOrd="0" presId="urn:microsoft.com/office/officeart/2005/8/layout/vList2"/>
    <dgm:cxn modelId="{37C61B69-BCF0-4BC3-A369-1197D34FB036}" srcId="{5B26F957-A21D-4467-B39A-9E4062C5F396}" destId="{299A6F02-652F-494B-B8AB-955E57DC4F8F}" srcOrd="3" destOrd="0" parTransId="{70E18CD2-79F6-4B44-9730-6141582CA185}" sibTransId="{705E542D-EE42-4DA6-815A-106DEC080595}"/>
    <dgm:cxn modelId="{F34FEB4A-8608-485D-B110-0DC6CB8E5C3D}" type="presOf" srcId="{3AD09C3E-03E0-4778-A652-4C1CDB77F57A}" destId="{214EE8C8-D62A-4DBE-A521-D1A2D2A2E096}" srcOrd="0" destOrd="0" presId="urn:microsoft.com/office/officeart/2005/8/layout/vList2"/>
    <dgm:cxn modelId="{F79C0952-3DEB-47AD-810F-48E37DA25C81}" srcId="{5B26F957-A21D-4467-B39A-9E4062C5F396}" destId="{714DCFCE-C53F-45CE-A3EF-0057DFB53519}" srcOrd="0" destOrd="0" parTransId="{1C1F2B21-8F98-401D-8F47-D2FF397CD0E4}" sibTransId="{64811EAF-0719-4CCB-A3B1-87510A042523}"/>
    <dgm:cxn modelId="{12C53C7D-B2AD-4EC6-A2D9-28F11BB5ACE1}" srcId="{5B26F957-A21D-4467-B39A-9E4062C5F396}" destId="{DD32EF6D-0BC0-4DF9-A6D3-D30527536BC4}" srcOrd="2" destOrd="0" parTransId="{531F8A5A-BF2F-4AE3-920E-085D8A4A281B}" sibTransId="{AC91F6AD-0ABC-4B4A-AA4B-4DDB7836E00D}"/>
    <dgm:cxn modelId="{DDB8249A-DABB-45B9-A04B-248F1A60658F}" type="presOf" srcId="{299A6F02-652F-494B-B8AB-955E57DC4F8F}" destId="{D9784C14-0DAD-4B03-AD94-2459FBB843FA}" srcOrd="0" destOrd="0" presId="urn:microsoft.com/office/officeart/2005/8/layout/vList2"/>
    <dgm:cxn modelId="{4B996FFC-E3E2-4D72-912A-7959A5117F02}" srcId="{5B26F957-A21D-4467-B39A-9E4062C5F396}" destId="{3AD09C3E-03E0-4778-A652-4C1CDB77F57A}" srcOrd="1" destOrd="0" parTransId="{B72ED418-A8E7-42C5-9DFB-6205BE9C747F}" sibTransId="{E8106E2E-DE4B-4173-9723-C43FD75A0C69}"/>
    <dgm:cxn modelId="{84D551FC-F55B-41A7-961B-4ADF2CEB4324}" type="presOf" srcId="{5B26F957-A21D-4467-B39A-9E4062C5F396}" destId="{94C7D1BD-F533-49C9-AE1C-81E066C11A3C}" srcOrd="0" destOrd="0" presId="urn:microsoft.com/office/officeart/2005/8/layout/vList2"/>
    <dgm:cxn modelId="{FFB12FD4-46C5-4A7F-93F2-D554F8FEAE50}" type="presParOf" srcId="{94C7D1BD-F533-49C9-AE1C-81E066C11A3C}" destId="{2CACE128-F3F2-4551-B374-524FD2825640}" srcOrd="0" destOrd="0" presId="urn:microsoft.com/office/officeart/2005/8/layout/vList2"/>
    <dgm:cxn modelId="{2731077B-86FC-4766-9FA3-C7DC20439287}" type="presParOf" srcId="{94C7D1BD-F533-49C9-AE1C-81E066C11A3C}" destId="{A1FFF945-802D-48A9-93B9-256E9C4DD620}" srcOrd="1" destOrd="0" presId="urn:microsoft.com/office/officeart/2005/8/layout/vList2"/>
    <dgm:cxn modelId="{281CFD60-137B-4FD7-992A-4365F6E4A874}" type="presParOf" srcId="{94C7D1BD-F533-49C9-AE1C-81E066C11A3C}" destId="{214EE8C8-D62A-4DBE-A521-D1A2D2A2E096}" srcOrd="2" destOrd="0" presId="urn:microsoft.com/office/officeart/2005/8/layout/vList2"/>
    <dgm:cxn modelId="{6C0C84D3-025E-4329-8D7D-1C2A15F5C54D}" type="presParOf" srcId="{94C7D1BD-F533-49C9-AE1C-81E066C11A3C}" destId="{11FC19E3-9E88-430B-A511-0348F008FCEB}" srcOrd="3" destOrd="0" presId="urn:microsoft.com/office/officeart/2005/8/layout/vList2"/>
    <dgm:cxn modelId="{8E0C68A3-D05B-4BA8-BBED-6289C786A441}" type="presParOf" srcId="{94C7D1BD-F533-49C9-AE1C-81E066C11A3C}" destId="{498CE7D4-4079-4777-AA58-942B80048F7A}" srcOrd="4" destOrd="0" presId="urn:microsoft.com/office/officeart/2005/8/layout/vList2"/>
    <dgm:cxn modelId="{DC8C99FE-C86D-438E-B2B8-20D8F43DF7D6}" type="presParOf" srcId="{94C7D1BD-F533-49C9-AE1C-81E066C11A3C}" destId="{93AD5C8B-FD8C-4CAD-8E28-7FCF1BE37C7F}" srcOrd="5" destOrd="0" presId="urn:microsoft.com/office/officeart/2005/8/layout/vList2"/>
    <dgm:cxn modelId="{9D65F53D-B588-44FE-92AE-BCA5BCC84DE7}" type="presParOf" srcId="{94C7D1BD-F533-49C9-AE1C-81E066C11A3C}" destId="{D9784C14-0DAD-4B03-AD94-2459FBB843FA}" srcOrd="6" destOrd="0" presId="urn:microsoft.com/office/officeart/2005/8/layout/vList2"/>
    <dgm:cxn modelId="{73EF5A3C-1E85-4867-B578-4475892F2568}" type="presParOf" srcId="{94C7D1BD-F533-49C9-AE1C-81E066C11A3C}" destId="{F7AC5900-1B80-401E-B161-04FF4D81D5AD}" srcOrd="7" destOrd="0" presId="urn:microsoft.com/office/officeart/2005/8/layout/vList2"/>
    <dgm:cxn modelId="{08187CCA-6F3A-49F6-88D0-6DE28D378A0B}" type="presParOf" srcId="{94C7D1BD-F533-49C9-AE1C-81E066C11A3C}" destId="{3F731274-7DE5-4006-93D3-1940DF330F8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C26AED-D4A1-47D9-8F52-094DB416253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2C45B792-58E2-4C31-8DA7-BCCD3603250A}">
      <dgm:prSet/>
      <dgm:spPr/>
      <dgm:t>
        <a:bodyPr/>
        <a:lstStyle/>
        <a:p>
          <a:r>
            <a:rPr lang="en-US" b="1" i="0" baseline="0"/>
            <a:t>Limit discounts to a maximum of 40% to prevent loss-making transactions and protect profit margins.</a:t>
          </a:r>
          <a:r>
            <a:rPr lang="en-US" b="0" i="0" baseline="0"/>
            <a:t> </a:t>
          </a:r>
          <a:endParaRPr lang="en-US"/>
        </a:p>
      </dgm:t>
    </dgm:pt>
    <dgm:pt modelId="{06F53584-4434-4B3B-A7AC-7FAE8A3A7788}" type="parTrans" cxnId="{BC71883E-0321-4573-9BC7-06125DAC43CB}">
      <dgm:prSet/>
      <dgm:spPr/>
      <dgm:t>
        <a:bodyPr/>
        <a:lstStyle/>
        <a:p>
          <a:endParaRPr lang="en-US"/>
        </a:p>
      </dgm:t>
    </dgm:pt>
    <dgm:pt modelId="{FDED58AC-6117-4F40-A5C9-3F28926DD301}" type="sibTrans" cxnId="{BC71883E-0321-4573-9BC7-06125DAC43CB}">
      <dgm:prSet/>
      <dgm:spPr/>
      <dgm:t>
        <a:bodyPr/>
        <a:lstStyle/>
        <a:p>
          <a:endParaRPr lang="en-US"/>
        </a:p>
      </dgm:t>
    </dgm:pt>
    <dgm:pt modelId="{DA1B3BD1-70AE-4999-90B2-D95C4922766B}">
      <dgm:prSet/>
      <dgm:spPr/>
      <dgm:t>
        <a:bodyPr/>
        <a:lstStyle/>
        <a:p>
          <a:r>
            <a:rPr lang="en-US" b="1" i="0" baseline="0" dirty="0"/>
            <a:t>Review and optimize pricing and cost structure for the Furniture category, especially loss-making sub-categories like Tables and Bookcases.</a:t>
          </a:r>
          <a:r>
            <a:rPr lang="en-US" b="0" i="0" baseline="0" dirty="0"/>
            <a:t> </a:t>
          </a:r>
          <a:endParaRPr lang="en-US" dirty="0"/>
        </a:p>
      </dgm:t>
    </dgm:pt>
    <dgm:pt modelId="{027465BC-892E-4F78-B58B-4204E2FEA5AE}" type="parTrans" cxnId="{A9DE5526-FDC8-4247-82CC-2B1D9A2F4F19}">
      <dgm:prSet/>
      <dgm:spPr/>
      <dgm:t>
        <a:bodyPr/>
        <a:lstStyle/>
        <a:p>
          <a:endParaRPr lang="en-US"/>
        </a:p>
      </dgm:t>
    </dgm:pt>
    <dgm:pt modelId="{A553673F-9DE2-4EA4-BFB8-288C913EBE7A}" type="sibTrans" cxnId="{A9DE5526-FDC8-4247-82CC-2B1D9A2F4F19}">
      <dgm:prSet/>
      <dgm:spPr/>
      <dgm:t>
        <a:bodyPr/>
        <a:lstStyle/>
        <a:p>
          <a:endParaRPr lang="en-US"/>
        </a:p>
      </dgm:t>
    </dgm:pt>
    <dgm:pt modelId="{90952C8A-D046-4C74-AFF8-FD146B74BCDC}">
      <dgm:prSet/>
      <dgm:spPr/>
      <dgm:t>
        <a:bodyPr/>
        <a:lstStyle/>
        <a:p>
          <a:r>
            <a:rPr lang="en-US" b="1" i="0" baseline="0"/>
            <a:t>Increase focus on the Technology category by promoting high-margin products and maintaining controlled discounting.</a:t>
          </a:r>
          <a:r>
            <a:rPr lang="en-US" b="0" i="0" baseline="0"/>
            <a:t> </a:t>
          </a:r>
          <a:endParaRPr lang="en-US"/>
        </a:p>
      </dgm:t>
    </dgm:pt>
    <dgm:pt modelId="{3535A234-3BA9-4DA5-B14C-7BB523C3904B}" type="parTrans" cxnId="{D2011275-A9F0-42B8-B97F-B7185CC9B82C}">
      <dgm:prSet/>
      <dgm:spPr/>
      <dgm:t>
        <a:bodyPr/>
        <a:lstStyle/>
        <a:p>
          <a:endParaRPr lang="en-US"/>
        </a:p>
      </dgm:t>
    </dgm:pt>
    <dgm:pt modelId="{F47C91B8-42B8-45E7-A7F3-2650A490FCD3}" type="sibTrans" cxnId="{D2011275-A9F0-42B8-B97F-B7185CC9B82C}">
      <dgm:prSet/>
      <dgm:spPr/>
      <dgm:t>
        <a:bodyPr/>
        <a:lstStyle/>
        <a:p>
          <a:endParaRPr lang="en-US"/>
        </a:p>
      </dgm:t>
    </dgm:pt>
    <dgm:pt modelId="{B64CD6AB-03F9-42AD-B027-8E3B11CBBCED}">
      <dgm:prSet/>
      <dgm:spPr/>
      <dgm:t>
        <a:bodyPr/>
        <a:lstStyle/>
        <a:p>
          <a:r>
            <a:rPr lang="en-US" b="1" i="0" baseline="0" dirty="0"/>
            <a:t>Improve performance in the Central region by analyzing pricing, product mix, and operational efficiency.</a:t>
          </a:r>
          <a:r>
            <a:rPr lang="en-US" b="0" i="0" baseline="0" dirty="0"/>
            <a:t> </a:t>
          </a:r>
          <a:endParaRPr lang="en-US" dirty="0"/>
        </a:p>
      </dgm:t>
    </dgm:pt>
    <dgm:pt modelId="{008D6242-DC80-4A75-B22A-5D3472747AEA}" type="parTrans" cxnId="{2954238D-1E48-435D-A4BD-B125E9FFDD2F}">
      <dgm:prSet/>
      <dgm:spPr/>
      <dgm:t>
        <a:bodyPr/>
        <a:lstStyle/>
        <a:p>
          <a:endParaRPr lang="en-US"/>
        </a:p>
      </dgm:t>
    </dgm:pt>
    <dgm:pt modelId="{94C0AA3C-62F4-4149-A1BE-44E33636F8B3}" type="sibTrans" cxnId="{2954238D-1E48-435D-A4BD-B125E9FFDD2F}">
      <dgm:prSet/>
      <dgm:spPr/>
      <dgm:t>
        <a:bodyPr/>
        <a:lstStyle/>
        <a:p>
          <a:endParaRPr lang="en-US"/>
        </a:p>
      </dgm:t>
    </dgm:pt>
    <dgm:pt modelId="{A0509E8E-E88D-449D-81FD-35893A916717}" type="pres">
      <dgm:prSet presAssocID="{76C26AED-D4A1-47D9-8F52-094DB4162538}" presName="root" presStyleCnt="0">
        <dgm:presLayoutVars>
          <dgm:dir/>
          <dgm:resizeHandles val="exact"/>
        </dgm:presLayoutVars>
      </dgm:prSet>
      <dgm:spPr/>
    </dgm:pt>
    <dgm:pt modelId="{2A3C6BC0-E73B-4534-9507-41D96154B7EC}" type="pres">
      <dgm:prSet presAssocID="{2C45B792-58E2-4C31-8DA7-BCCD3603250A}" presName="compNode" presStyleCnt="0"/>
      <dgm:spPr/>
    </dgm:pt>
    <dgm:pt modelId="{DB023C08-0AE9-482C-84AC-4000E8ABBE2B}" type="pres">
      <dgm:prSet presAssocID="{2C45B792-58E2-4C31-8DA7-BCCD3603250A}" presName="bgRect" presStyleLbl="bgShp" presStyleIdx="0" presStyleCnt="4"/>
      <dgm:spPr/>
    </dgm:pt>
    <dgm:pt modelId="{92AC986D-654C-4C51-8E6F-9F36F33DF714}" type="pres">
      <dgm:prSet presAssocID="{2C45B792-58E2-4C31-8DA7-BCCD3603250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uro"/>
        </a:ext>
      </dgm:extLst>
    </dgm:pt>
    <dgm:pt modelId="{C17B5247-2AD0-4C52-AE48-470494CD4F4B}" type="pres">
      <dgm:prSet presAssocID="{2C45B792-58E2-4C31-8DA7-BCCD3603250A}" presName="spaceRect" presStyleCnt="0"/>
      <dgm:spPr/>
    </dgm:pt>
    <dgm:pt modelId="{85F0D797-73B7-4A0D-8889-F447228FBAFE}" type="pres">
      <dgm:prSet presAssocID="{2C45B792-58E2-4C31-8DA7-BCCD3603250A}" presName="parTx" presStyleLbl="revTx" presStyleIdx="0" presStyleCnt="4">
        <dgm:presLayoutVars>
          <dgm:chMax val="0"/>
          <dgm:chPref val="0"/>
        </dgm:presLayoutVars>
      </dgm:prSet>
      <dgm:spPr/>
    </dgm:pt>
    <dgm:pt modelId="{5BEDBB95-D317-4BDF-A769-E01B18CC7CF4}" type="pres">
      <dgm:prSet presAssocID="{FDED58AC-6117-4F40-A5C9-3F28926DD301}" presName="sibTrans" presStyleCnt="0"/>
      <dgm:spPr/>
    </dgm:pt>
    <dgm:pt modelId="{61C812E0-F1C4-42E5-9ED5-03835BF04DBC}" type="pres">
      <dgm:prSet presAssocID="{DA1B3BD1-70AE-4999-90B2-D95C4922766B}" presName="compNode" presStyleCnt="0"/>
      <dgm:spPr/>
    </dgm:pt>
    <dgm:pt modelId="{A5CCB9F2-5365-4DFF-8F2B-074B619146BA}" type="pres">
      <dgm:prSet presAssocID="{DA1B3BD1-70AE-4999-90B2-D95C4922766B}" presName="bgRect" presStyleLbl="bgShp" presStyleIdx="1" presStyleCnt="4"/>
      <dgm:spPr/>
    </dgm:pt>
    <dgm:pt modelId="{EF4D74B4-C92F-4560-B3FA-0D5684F3254F}" type="pres">
      <dgm:prSet presAssocID="{DA1B3BD1-70AE-4999-90B2-D95C4922766B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24F205E9-82ED-4BDC-935D-F5E07F04E138}" type="pres">
      <dgm:prSet presAssocID="{DA1B3BD1-70AE-4999-90B2-D95C4922766B}" presName="spaceRect" presStyleCnt="0"/>
      <dgm:spPr/>
    </dgm:pt>
    <dgm:pt modelId="{DD3CFDDB-7DB9-4094-9B5C-A3CA76A2A87B}" type="pres">
      <dgm:prSet presAssocID="{DA1B3BD1-70AE-4999-90B2-D95C4922766B}" presName="parTx" presStyleLbl="revTx" presStyleIdx="1" presStyleCnt="4">
        <dgm:presLayoutVars>
          <dgm:chMax val="0"/>
          <dgm:chPref val="0"/>
        </dgm:presLayoutVars>
      </dgm:prSet>
      <dgm:spPr/>
    </dgm:pt>
    <dgm:pt modelId="{BA04D23A-4C92-4CFA-9F7A-ADEDA2D236C3}" type="pres">
      <dgm:prSet presAssocID="{A553673F-9DE2-4EA4-BFB8-288C913EBE7A}" presName="sibTrans" presStyleCnt="0"/>
      <dgm:spPr/>
    </dgm:pt>
    <dgm:pt modelId="{1654CB07-0379-47D7-B415-8A13947F3A74}" type="pres">
      <dgm:prSet presAssocID="{90952C8A-D046-4C74-AFF8-FD146B74BCDC}" presName="compNode" presStyleCnt="0"/>
      <dgm:spPr/>
    </dgm:pt>
    <dgm:pt modelId="{F462B88F-DB12-4463-8F0D-694A3743EDAB}" type="pres">
      <dgm:prSet presAssocID="{90952C8A-D046-4C74-AFF8-FD146B74BCDC}" presName="bgRect" presStyleLbl="bgShp" presStyleIdx="2" presStyleCnt="4"/>
      <dgm:spPr/>
    </dgm:pt>
    <dgm:pt modelId="{3455F5E5-3626-46A7-8271-1E7FF1F0D414}" type="pres">
      <dgm:prSet presAssocID="{90952C8A-D046-4C74-AFF8-FD146B74BCD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BF411BAD-4617-4D46-A6F6-01B6A40B3A65}" type="pres">
      <dgm:prSet presAssocID="{90952C8A-D046-4C74-AFF8-FD146B74BCDC}" presName="spaceRect" presStyleCnt="0"/>
      <dgm:spPr/>
    </dgm:pt>
    <dgm:pt modelId="{F9695EA9-6E29-4908-B09C-FE5D3A8B6315}" type="pres">
      <dgm:prSet presAssocID="{90952C8A-D046-4C74-AFF8-FD146B74BCDC}" presName="parTx" presStyleLbl="revTx" presStyleIdx="2" presStyleCnt="4">
        <dgm:presLayoutVars>
          <dgm:chMax val="0"/>
          <dgm:chPref val="0"/>
        </dgm:presLayoutVars>
      </dgm:prSet>
      <dgm:spPr/>
    </dgm:pt>
    <dgm:pt modelId="{DF948552-3356-4F7D-874A-2710D2B585EB}" type="pres">
      <dgm:prSet presAssocID="{F47C91B8-42B8-45E7-A7F3-2650A490FCD3}" presName="sibTrans" presStyleCnt="0"/>
      <dgm:spPr/>
    </dgm:pt>
    <dgm:pt modelId="{A36FC77C-4ADA-4444-8578-C217A8F73622}" type="pres">
      <dgm:prSet presAssocID="{B64CD6AB-03F9-42AD-B027-8E3B11CBBCED}" presName="compNode" presStyleCnt="0"/>
      <dgm:spPr/>
    </dgm:pt>
    <dgm:pt modelId="{3EAA3C3E-E759-4F50-B4AB-BC4BA664CCA3}" type="pres">
      <dgm:prSet presAssocID="{B64CD6AB-03F9-42AD-B027-8E3B11CBBCED}" presName="bgRect" presStyleLbl="bgShp" presStyleIdx="3" presStyleCnt="4"/>
      <dgm:spPr/>
    </dgm:pt>
    <dgm:pt modelId="{C9C24D50-8E2A-4FD7-A5A8-9FFD91C5C348}" type="pres">
      <dgm:prSet presAssocID="{B64CD6AB-03F9-42AD-B027-8E3B11CBBCE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1C73CB31-31DB-4B47-94B2-594CBCA0E383}" type="pres">
      <dgm:prSet presAssocID="{B64CD6AB-03F9-42AD-B027-8E3B11CBBCED}" presName="spaceRect" presStyleCnt="0"/>
      <dgm:spPr/>
    </dgm:pt>
    <dgm:pt modelId="{BA46E96C-AD52-48EB-87F6-2240C8F6EF96}" type="pres">
      <dgm:prSet presAssocID="{B64CD6AB-03F9-42AD-B027-8E3B11CBBCE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86B6B05-443E-458D-9087-DFB634073C94}" type="presOf" srcId="{DA1B3BD1-70AE-4999-90B2-D95C4922766B}" destId="{DD3CFDDB-7DB9-4094-9B5C-A3CA76A2A87B}" srcOrd="0" destOrd="0" presId="urn:microsoft.com/office/officeart/2018/2/layout/IconVerticalSolidList"/>
    <dgm:cxn modelId="{9E59CE0B-E088-4C07-B032-BA68E453E712}" type="presOf" srcId="{2C45B792-58E2-4C31-8DA7-BCCD3603250A}" destId="{85F0D797-73B7-4A0D-8889-F447228FBAFE}" srcOrd="0" destOrd="0" presId="urn:microsoft.com/office/officeart/2018/2/layout/IconVerticalSolidList"/>
    <dgm:cxn modelId="{A9DE5526-FDC8-4247-82CC-2B1D9A2F4F19}" srcId="{76C26AED-D4A1-47D9-8F52-094DB4162538}" destId="{DA1B3BD1-70AE-4999-90B2-D95C4922766B}" srcOrd="1" destOrd="0" parTransId="{027465BC-892E-4F78-B58B-4204E2FEA5AE}" sibTransId="{A553673F-9DE2-4EA4-BFB8-288C913EBE7A}"/>
    <dgm:cxn modelId="{BC71883E-0321-4573-9BC7-06125DAC43CB}" srcId="{76C26AED-D4A1-47D9-8F52-094DB4162538}" destId="{2C45B792-58E2-4C31-8DA7-BCCD3603250A}" srcOrd="0" destOrd="0" parTransId="{06F53584-4434-4B3B-A7AC-7FAE8A3A7788}" sibTransId="{FDED58AC-6117-4F40-A5C9-3F28926DD301}"/>
    <dgm:cxn modelId="{D2011275-A9F0-42B8-B97F-B7185CC9B82C}" srcId="{76C26AED-D4A1-47D9-8F52-094DB4162538}" destId="{90952C8A-D046-4C74-AFF8-FD146B74BCDC}" srcOrd="2" destOrd="0" parTransId="{3535A234-3BA9-4DA5-B14C-7BB523C3904B}" sibTransId="{F47C91B8-42B8-45E7-A7F3-2650A490FCD3}"/>
    <dgm:cxn modelId="{23BAA789-4B91-4594-9CDD-6899CAD84486}" type="presOf" srcId="{90952C8A-D046-4C74-AFF8-FD146B74BCDC}" destId="{F9695EA9-6E29-4908-B09C-FE5D3A8B6315}" srcOrd="0" destOrd="0" presId="urn:microsoft.com/office/officeart/2018/2/layout/IconVerticalSolidList"/>
    <dgm:cxn modelId="{2954238D-1E48-435D-A4BD-B125E9FFDD2F}" srcId="{76C26AED-D4A1-47D9-8F52-094DB4162538}" destId="{B64CD6AB-03F9-42AD-B027-8E3B11CBBCED}" srcOrd="3" destOrd="0" parTransId="{008D6242-DC80-4A75-B22A-5D3472747AEA}" sibTransId="{94C0AA3C-62F4-4149-A1BE-44E33636F8B3}"/>
    <dgm:cxn modelId="{7C51B2C8-8A52-407C-89C0-B906FDA943CA}" type="presOf" srcId="{76C26AED-D4A1-47D9-8F52-094DB4162538}" destId="{A0509E8E-E88D-449D-81FD-35893A916717}" srcOrd="0" destOrd="0" presId="urn:microsoft.com/office/officeart/2018/2/layout/IconVerticalSolidList"/>
    <dgm:cxn modelId="{1CA6F4CA-BF04-48DB-AE17-2C4982360D61}" type="presOf" srcId="{B64CD6AB-03F9-42AD-B027-8E3B11CBBCED}" destId="{BA46E96C-AD52-48EB-87F6-2240C8F6EF96}" srcOrd="0" destOrd="0" presId="urn:microsoft.com/office/officeart/2018/2/layout/IconVerticalSolidList"/>
    <dgm:cxn modelId="{92D33073-1141-4A4A-895F-763DAEA45224}" type="presParOf" srcId="{A0509E8E-E88D-449D-81FD-35893A916717}" destId="{2A3C6BC0-E73B-4534-9507-41D96154B7EC}" srcOrd="0" destOrd="0" presId="urn:microsoft.com/office/officeart/2018/2/layout/IconVerticalSolidList"/>
    <dgm:cxn modelId="{959D9085-3221-4CF8-AACC-31A6F470D650}" type="presParOf" srcId="{2A3C6BC0-E73B-4534-9507-41D96154B7EC}" destId="{DB023C08-0AE9-482C-84AC-4000E8ABBE2B}" srcOrd="0" destOrd="0" presId="urn:microsoft.com/office/officeart/2018/2/layout/IconVerticalSolidList"/>
    <dgm:cxn modelId="{73E7BF58-7849-4C65-A671-48168C296BE3}" type="presParOf" srcId="{2A3C6BC0-E73B-4534-9507-41D96154B7EC}" destId="{92AC986D-654C-4C51-8E6F-9F36F33DF714}" srcOrd="1" destOrd="0" presId="urn:microsoft.com/office/officeart/2018/2/layout/IconVerticalSolidList"/>
    <dgm:cxn modelId="{1188F9D8-0B1B-46CE-8C22-65E07D301252}" type="presParOf" srcId="{2A3C6BC0-E73B-4534-9507-41D96154B7EC}" destId="{C17B5247-2AD0-4C52-AE48-470494CD4F4B}" srcOrd="2" destOrd="0" presId="urn:microsoft.com/office/officeart/2018/2/layout/IconVerticalSolidList"/>
    <dgm:cxn modelId="{780D2540-5CDF-4BDC-BEEA-8CA42DD762B3}" type="presParOf" srcId="{2A3C6BC0-E73B-4534-9507-41D96154B7EC}" destId="{85F0D797-73B7-4A0D-8889-F447228FBAFE}" srcOrd="3" destOrd="0" presId="urn:microsoft.com/office/officeart/2018/2/layout/IconVerticalSolidList"/>
    <dgm:cxn modelId="{9A935E73-333B-4710-9C27-C0A73D80470C}" type="presParOf" srcId="{A0509E8E-E88D-449D-81FD-35893A916717}" destId="{5BEDBB95-D317-4BDF-A769-E01B18CC7CF4}" srcOrd="1" destOrd="0" presId="urn:microsoft.com/office/officeart/2018/2/layout/IconVerticalSolidList"/>
    <dgm:cxn modelId="{F10F147A-FB52-4478-BF75-2E2914082135}" type="presParOf" srcId="{A0509E8E-E88D-449D-81FD-35893A916717}" destId="{61C812E0-F1C4-42E5-9ED5-03835BF04DBC}" srcOrd="2" destOrd="0" presId="urn:microsoft.com/office/officeart/2018/2/layout/IconVerticalSolidList"/>
    <dgm:cxn modelId="{FDDB49E6-99DD-4BC7-9738-FE93DFA9EF38}" type="presParOf" srcId="{61C812E0-F1C4-42E5-9ED5-03835BF04DBC}" destId="{A5CCB9F2-5365-4DFF-8F2B-074B619146BA}" srcOrd="0" destOrd="0" presId="urn:microsoft.com/office/officeart/2018/2/layout/IconVerticalSolidList"/>
    <dgm:cxn modelId="{6C176D2B-18D7-4820-9315-4CBCBAC09023}" type="presParOf" srcId="{61C812E0-F1C4-42E5-9ED5-03835BF04DBC}" destId="{EF4D74B4-C92F-4560-B3FA-0D5684F3254F}" srcOrd="1" destOrd="0" presId="urn:microsoft.com/office/officeart/2018/2/layout/IconVerticalSolidList"/>
    <dgm:cxn modelId="{C84B927E-23AA-46C5-8C26-357716AA3B8F}" type="presParOf" srcId="{61C812E0-F1C4-42E5-9ED5-03835BF04DBC}" destId="{24F205E9-82ED-4BDC-935D-F5E07F04E138}" srcOrd="2" destOrd="0" presId="urn:microsoft.com/office/officeart/2018/2/layout/IconVerticalSolidList"/>
    <dgm:cxn modelId="{19DB6E42-052D-4C3A-9636-B874D7EC141A}" type="presParOf" srcId="{61C812E0-F1C4-42E5-9ED5-03835BF04DBC}" destId="{DD3CFDDB-7DB9-4094-9B5C-A3CA76A2A87B}" srcOrd="3" destOrd="0" presId="urn:microsoft.com/office/officeart/2018/2/layout/IconVerticalSolidList"/>
    <dgm:cxn modelId="{367E8045-64F4-4EAC-8F34-360D82790BBF}" type="presParOf" srcId="{A0509E8E-E88D-449D-81FD-35893A916717}" destId="{BA04D23A-4C92-4CFA-9F7A-ADEDA2D236C3}" srcOrd="3" destOrd="0" presId="urn:microsoft.com/office/officeart/2018/2/layout/IconVerticalSolidList"/>
    <dgm:cxn modelId="{4693E21E-B2BB-4346-A46E-1F51A2D0D5BF}" type="presParOf" srcId="{A0509E8E-E88D-449D-81FD-35893A916717}" destId="{1654CB07-0379-47D7-B415-8A13947F3A74}" srcOrd="4" destOrd="0" presId="urn:microsoft.com/office/officeart/2018/2/layout/IconVerticalSolidList"/>
    <dgm:cxn modelId="{CBD479F5-9ED8-4039-B154-29A0A31FE688}" type="presParOf" srcId="{1654CB07-0379-47D7-B415-8A13947F3A74}" destId="{F462B88F-DB12-4463-8F0D-694A3743EDAB}" srcOrd="0" destOrd="0" presId="urn:microsoft.com/office/officeart/2018/2/layout/IconVerticalSolidList"/>
    <dgm:cxn modelId="{3A47ADD6-D5EB-427C-8C57-632624BCA075}" type="presParOf" srcId="{1654CB07-0379-47D7-B415-8A13947F3A74}" destId="{3455F5E5-3626-46A7-8271-1E7FF1F0D414}" srcOrd="1" destOrd="0" presId="urn:microsoft.com/office/officeart/2018/2/layout/IconVerticalSolidList"/>
    <dgm:cxn modelId="{FCBD8A0A-D970-41F5-850D-ED93709F69BC}" type="presParOf" srcId="{1654CB07-0379-47D7-B415-8A13947F3A74}" destId="{BF411BAD-4617-4D46-A6F6-01B6A40B3A65}" srcOrd="2" destOrd="0" presId="urn:microsoft.com/office/officeart/2018/2/layout/IconVerticalSolidList"/>
    <dgm:cxn modelId="{378A538F-8D15-4C33-A0C0-F16CF8BA3615}" type="presParOf" srcId="{1654CB07-0379-47D7-B415-8A13947F3A74}" destId="{F9695EA9-6E29-4908-B09C-FE5D3A8B6315}" srcOrd="3" destOrd="0" presId="urn:microsoft.com/office/officeart/2018/2/layout/IconVerticalSolidList"/>
    <dgm:cxn modelId="{3B54E6D3-13F4-4F47-B9BA-19F0084F13B2}" type="presParOf" srcId="{A0509E8E-E88D-449D-81FD-35893A916717}" destId="{DF948552-3356-4F7D-874A-2710D2B585EB}" srcOrd="5" destOrd="0" presId="urn:microsoft.com/office/officeart/2018/2/layout/IconVerticalSolidList"/>
    <dgm:cxn modelId="{CBAD4F7A-3A36-4282-BB61-59320C19C758}" type="presParOf" srcId="{A0509E8E-E88D-449D-81FD-35893A916717}" destId="{A36FC77C-4ADA-4444-8578-C217A8F73622}" srcOrd="6" destOrd="0" presId="urn:microsoft.com/office/officeart/2018/2/layout/IconVerticalSolidList"/>
    <dgm:cxn modelId="{C7A93CF0-3AD1-40E7-A895-CD3236956970}" type="presParOf" srcId="{A36FC77C-4ADA-4444-8578-C217A8F73622}" destId="{3EAA3C3E-E759-4F50-B4AB-BC4BA664CCA3}" srcOrd="0" destOrd="0" presId="urn:microsoft.com/office/officeart/2018/2/layout/IconVerticalSolidList"/>
    <dgm:cxn modelId="{7B87AFF0-3544-44D7-BEB2-85C7E59E893A}" type="presParOf" srcId="{A36FC77C-4ADA-4444-8578-C217A8F73622}" destId="{C9C24D50-8E2A-4FD7-A5A8-9FFD91C5C348}" srcOrd="1" destOrd="0" presId="urn:microsoft.com/office/officeart/2018/2/layout/IconVerticalSolidList"/>
    <dgm:cxn modelId="{6D02AE6F-280E-495B-9498-687ECCF1259F}" type="presParOf" srcId="{A36FC77C-4ADA-4444-8578-C217A8F73622}" destId="{1C73CB31-31DB-4B47-94B2-594CBCA0E383}" srcOrd="2" destOrd="0" presId="urn:microsoft.com/office/officeart/2018/2/layout/IconVerticalSolidList"/>
    <dgm:cxn modelId="{0647E600-B223-4F1B-964D-8DCD92E148D5}" type="presParOf" srcId="{A36FC77C-4ADA-4444-8578-C217A8F73622}" destId="{BA46E96C-AD52-48EB-87F6-2240C8F6EF9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ACE128-F3F2-4551-B374-524FD2825640}">
      <dsp:nvSpPr>
        <dsp:cNvPr id="0" name=""/>
        <dsp:cNvSpPr/>
      </dsp:nvSpPr>
      <dsp:spPr>
        <a:xfrm>
          <a:off x="0" y="711410"/>
          <a:ext cx="6666833" cy="73709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Strong Revenue but Weak Profitability </a:t>
          </a:r>
        </a:p>
      </dsp:txBody>
      <dsp:txXfrm>
        <a:off x="35982" y="747392"/>
        <a:ext cx="6594869" cy="665135"/>
      </dsp:txXfrm>
    </dsp:sp>
    <dsp:sp modelId="{214EE8C8-D62A-4DBE-A521-D1A2D2A2E096}">
      <dsp:nvSpPr>
        <dsp:cNvPr id="0" name=""/>
        <dsp:cNvSpPr/>
      </dsp:nvSpPr>
      <dsp:spPr>
        <a:xfrm>
          <a:off x="0" y="1534910"/>
          <a:ext cx="6666833" cy="737099"/>
        </a:xfrm>
        <a:prstGeom prst="round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Discounts are Reducing Profit </a:t>
          </a:r>
        </a:p>
      </dsp:txBody>
      <dsp:txXfrm>
        <a:off x="35982" y="1570892"/>
        <a:ext cx="6594869" cy="665135"/>
      </dsp:txXfrm>
    </dsp:sp>
    <dsp:sp modelId="{498CE7D4-4079-4777-AA58-942B80048F7A}">
      <dsp:nvSpPr>
        <dsp:cNvPr id="0" name=""/>
        <dsp:cNvSpPr/>
      </dsp:nvSpPr>
      <dsp:spPr>
        <a:xfrm>
          <a:off x="0" y="2358410"/>
          <a:ext cx="6666833" cy="737099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Furniture Category is Loss-Making </a:t>
          </a:r>
        </a:p>
      </dsp:txBody>
      <dsp:txXfrm>
        <a:off x="35982" y="2394392"/>
        <a:ext cx="6594869" cy="665135"/>
      </dsp:txXfrm>
    </dsp:sp>
    <dsp:sp modelId="{D9784C14-0DAD-4B03-AD94-2459FBB843FA}">
      <dsp:nvSpPr>
        <dsp:cNvPr id="0" name=""/>
        <dsp:cNvSpPr/>
      </dsp:nvSpPr>
      <dsp:spPr>
        <a:xfrm>
          <a:off x="0" y="3181910"/>
          <a:ext cx="6666833" cy="737099"/>
        </a:xfrm>
        <a:prstGeom prst="roundRect">
          <a:avLst/>
        </a:prstGeom>
        <a:gradFill rotWithShape="0">
          <a:gsLst>
            <a:gs pos="0">
              <a:schemeClr val="accent2">
                <a:hueOff val="4832710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10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10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Technology is High-Performing </a:t>
          </a:r>
        </a:p>
      </dsp:txBody>
      <dsp:txXfrm>
        <a:off x="35982" y="3217892"/>
        <a:ext cx="6594869" cy="665135"/>
      </dsp:txXfrm>
    </dsp:sp>
    <dsp:sp modelId="{3F731274-7DE5-4006-93D3-1940DF330F85}">
      <dsp:nvSpPr>
        <dsp:cNvPr id="0" name=""/>
        <dsp:cNvSpPr/>
      </dsp:nvSpPr>
      <dsp:spPr>
        <a:xfrm>
          <a:off x="0" y="4005410"/>
          <a:ext cx="6666833" cy="737099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Central Region is Underperforming </a:t>
          </a:r>
        </a:p>
      </dsp:txBody>
      <dsp:txXfrm>
        <a:off x="35982" y="4041392"/>
        <a:ext cx="6594869" cy="6651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023C08-0AE9-482C-84AC-4000E8ABBE2B}">
      <dsp:nvSpPr>
        <dsp:cNvPr id="0" name=""/>
        <dsp:cNvSpPr/>
      </dsp:nvSpPr>
      <dsp:spPr>
        <a:xfrm>
          <a:off x="0" y="1808"/>
          <a:ext cx="105156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AC986D-654C-4C51-8E6F-9F36F33DF714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F0D797-73B7-4A0D-8889-F447228FBAFE}">
      <dsp:nvSpPr>
        <dsp:cNvPr id="0" name=""/>
        <dsp:cNvSpPr/>
      </dsp:nvSpPr>
      <dsp:spPr>
        <a:xfrm>
          <a:off x="1058686" y="180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Limit discounts to a maximum of 40% to prevent loss-making transactions and protect profit margins.</a:t>
          </a:r>
          <a:r>
            <a:rPr lang="en-US" sz="2200" b="0" i="0" kern="1200" baseline="0"/>
            <a:t> </a:t>
          </a:r>
          <a:endParaRPr lang="en-US" sz="2200" kern="1200"/>
        </a:p>
      </dsp:txBody>
      <dsp:txXfrm>
        <a:off x="1058686" y="1808"/>
        <a:ext cx="9456913" cy="916611"/>
      </dsp:txXfrm>
    </dsp:sp>
    <dsp:sp modelId="{A5CCB9F2-5365-4DFF-8F2B-074B619146BA}">
      <dsp:nvSpPr>
        <dsp:cNvPr id="0" name=""/>
        <dsp:cNvSpPr/>
      </dsp:nvSpPr>
      <dsp:spPr>
        <a:xfrm>
          <a:off x="0" y="1147573"/>
          <a:ext cx="105156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4D74B4-C92F-4560-B3FA-0D5684F3254F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3CFDDB-7DB9-4094-9B5C-A3CA76A2A87B}">
      <dsp:nvSpPr>
        <dsp:cNvPr id="0" name=""/>
        <dsp:cNvSpPr/>
      </dsp:nvSpPr>
      <dsp:spPr>
        <a:xfrm>
          <a:off x="1058686" y="114757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 dirty="0"/>
            <a:t>Review and optimize pricing and cost structure for the Furniture category, especially loss-making sub-categories like Tables and Bookcases.</a:t>
          </a:r>
          <a:r>
            <a:rPr lang="en-US" sz="2200" b="0" i="0" kern="1200" baseline="0" dirty="0"/>
            <a:t> </a:t>
          </a:r>
          <a:endParaRPr lang="en-US" sz="2200" kern="1200" dirty="0"/>
        </a:p>
      </dsp:txBody>
      <dsp:txXfrm>
        <a:off x="1058686" y="1147573"/>
        <a:ext cx="9456913" cy="916611"/>
      </dsp:txXfrm>
    </dsp:sp>
    <dsp:sp modelId="{F462B88F-DB12-4463-8F0D-694A3743EDAB}">
      <dsp:nvSpPr>
        <dsp:cNvPr id="0" name=""/>
        <dsp:cNvSpPr/>
      </dsp:nvSpPr>
      <dsp:spPr>
        <a:xfrm>
          <a:off x="0" y="2293338"/>
          <a:ext cx="105156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55F5E5-3626-46A7-8271-1E7FF1F0D414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695EA9-6E29-4908-B09C-FE5D3A8B6315}">
      <dsp:nvSpPr>
        <dsp:cNvPr id="0" name=""/>
        <dsp:cNvSpPr/>
      </dsp:nvSpPr>
      <dsp:spPr>
        <a:xfrm>
          <a:off x="1058686" y="229333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Increase focus on the Technology category by promoting high-margin products and maintaining controlled discounting.</a:t>
          </a:r>
          <a:r>
            <a:rPr lang="en-US" sz="2200" b="0" i="0" kern="1200" baseline="0"/>
            <a:t> </a:t>
          </a:r>
          <a:endParaRPr lang="en-US" sz="2200" kern="1200"/>
        </a:p>
      </dsp:txBody>
      <dsp:txXfrm>
        <a:off x="1058686" y="2293338"/>
        <a:ext cx="9456913" cy="916611"/>
      </dsp:txXfrm>
    </dsp:sp>
    <dsp:sp modelId="{3EAA3C3E-E759-4F50-B4AB-BC4BA664CCA3}">
      <dsp:nvSpPr>
        <dsp:cNvPr id="0" name=""/>
        <dsp:cNvSpPr/>
      </dsp:nvSpPr>
      <dsp:spPr>
        <a:xfrm>
          <a:off x="0" y="3439103"/>
          <a:ext cx="105156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C24D50-8E2A-4FD7-A5A8-9FFD91C5C348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46E96C-AD52-48EB-87F6-2240C8F6EF96}">
      <dsp:nvSpPr>
        <dsp:cNvPr id="0" name=""/>
        <dsp:cNvSpPr/>
      </dsp:nvSpPr>
      <dsp:spPr>
        <a:xfrm>
          <a:off x="1058686" y="343910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 dirty="0"/>
            <a:t>Improve performance in the Central region by analyzing pricing, product mix, and operational efficiency.</a:t>
          </a:r>
          <a:r>
            <a:rPr lang="en-US" sz="2200" b="0" i="0" kern="1200" baseline="0" dirty="0"/>
            <a:t> </a:t>
          </a:r>
          <a:endParaRPr lang="en-US" sz="2200" kern="1200" dirty="0"/>
        </a:p>
      </dsp:txBody>
      <dsp:txXfrm>
        <a:off x="1058686" y="3439103"/>
        <a:ext cx="9456913" cy="9166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9192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57800-3CE3-F0A0-4F52-ABA12FF9EE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6397B0-0EFC-857A-F971-D71F53963C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611AE-7B91-CBB9-82F7-951404B2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F66A1-0427-40E2-949E-830E2FC69FF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FF118-588D-EFE5-C0E8-31040C36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AC639-E4B1-1B6B-42BF-E3967905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4A4A6-44E0-433A-851B-C05CEB385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57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B3A81-17D1-8C09-4EA1-116ADB46B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FD15C-74F3-E913-11B8-BFCA0EA44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47100-679E-C2BA-FDD5-BF315B7B6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F66A1-0427-40E2-949E-830E2FC69FF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F37AE-A223-C11C-BC25-7D15CD8BD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65C2F-B4C4-D87C-5BEE-7546EB840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4A4A6-44E0-433A-851B-C05CEB385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064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D7DBA-8576-06FC-491E-F44A0B72D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E3EE8-4BCB-E7DD-1BA2-E75149A15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7907E-A445-9776-C1E0-4C60F0B32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F66A1-0427-40E2-949E-830E2FC69FF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5C88D-9BD8-C6D4-4185-2BB1CF967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A415D-659F-F845-031C-C7B576133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4A4A6-44E0-433A-851B-C05CEB385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621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B6276-FFC6-25AD-0F1B-EBD236E72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251F7-6468-2E04-E292-652D12A184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C91F21-EDA3-E16F-099C-F85B1610C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EB2572-7A54-B605-45B2-773F903ED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F66A1-0427-40E2-949E-830E2FC69FF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D678A3-8764-8641-4382-15829D249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179988-48EC-D388-2557-1BE8140EB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4A4A6-44E0-433A-851B-C05CEB385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687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BB7F4-F21B-6139-E57D-AA438D6DC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35D1D-29FC-7729-51B3-5ECA2ECAE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A04913-26A5-F6F1-319B-92867F96E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8689A4-6BEE-5EB8-9DBA-77F1DEA861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CFD99F-9A73-5CA1-159D-6E05DA7C4C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F51CB1-7E65-A959-6AF3-848B736DF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F66A1-0427-40E2-949E-830E2FC69FF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DAA6A6-336C-2E79-11A7-FEF34F612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9B3FB0-6A64-8ADC-6747-9F5E0E6AB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4A4A6-44E0-433A-851B-C05CEB385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379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E95DC-8F23-3D5F-9C4D-F5A3AD422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22F75E-0E46-B8FA-21DE-0C2F19DC0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F66A1-0427-40E2-949E-830E2FC69FF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8AF7D4-D16B-9B3D-7BCF-1DAD23541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0A1F36-98D9-EF85-D776-EE84E1C75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4A4A6-44E0-433A-851B-C05CEB385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21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2A5856-128E-698F-ECD0-844144AC0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F66A1-0427-40E2-949E-830E2FC69FF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64EA5F-E5D3-7E24-DE19-201F26EA4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2E048-A5E3-D101-2D9D-9E7A98CD9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4A4A6-44E0-433A-851B-C05CEB385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272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57B40-FADF-0E78-0735-D8AC815A1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B1516-402C-D9FA-0043-1889CF612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893C7-71BC-05EC-CFFB-FE7A0C6C4C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BB6383-F39D-6EEA-864E-CA282E3BD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F66A1-0427-40E2-949E-830E2FC69FF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3B390B-8DE7-6DDA-6D12-FE825AF49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261D5A-9F9E-B5AE-3B03-C9781CB29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4A4A6-44E0-433A-851B-C05CEB385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012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BA9E1-27F1-C519-4BDA-266E4DEC3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5DFF21-1A6A-0229-D337-BCE0327496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056ACD-AB32-3687-65D9-1D9981324E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F9F39-C71F-617F-09B3-B6F9EA255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F66A1-0427-40E2-949E-830E2FC69FF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67AA5-964C-2D3B-33C0-EDD4D1AFD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6C333B-3415-1BED-6D67-943F26761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4A4A6-44E0-433A-851B-C05CEB385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987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2F242-9B4F-E7E0-7BB8-B18A17722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F32B1B-3B07-AA39-1628-078BC6578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2B3C2-E1C5-1C67-2CCA-CF771A727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F66A1-0427-40E2-949E-830E2FC69FF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9096E-177E-A404-87CE-787BCD49E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F57BD-5278-8012-6121-09DC9FAA2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4A4A6-44E0-433A-851B-C05CEB385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641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8D124A-3D43-33AC-3DD5-383FBAD75F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B627EA-0E13-A7CB-4DA3-8F2D4EF38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58509-5571-7784-9566-D54A8A6D7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F66A1-0427-40E2-949E-830E2FC69FF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84696-7A2E-F3AA-8168-6F6FBD02C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53CDD-1131-C660-B572-11DBC9FAD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4A4A6-44E0-433A-851B-C05CEB385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10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88AB91-8D95-9A76-362F-C6D157F8B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B953E-169E-608E-516C-F94373974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EDA8-1750-D46C-73C6-F898DF97E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BF66A1-0427-40E2-949E-830E2FC69FF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09DEB-84B6-8116-4BFC-CA6A8BE234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A7A94-27EC-D3AD-6B26-8D669DB89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A4A4A6-44E0-433A-851B-C05CEB385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200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2EEC01-C4C9-96F3-77E7-FD328C117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5"/>
            <a:ext cx="8389516" cy="438973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500" kern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 Store </a:t>
            </a:r>
            <a:br>
              <a:rPr lang="en-US" sz="6500" kern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500" kern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For </a:t>
            </a:r>
            <a:br>
              <a:rPr lang="en-US" sz="6500" kern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500" kern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United States</a:t>
            </a:r>
          </a:p>
        </p:txBody>
      </p:sp>
    </p:spTree>
    <p:extLst>
      <p:ext uri="{BB962C8B-B14F-4D97-AF65-F5344CB8AC3E}">
        <p14:creationId xmlns:p14="http://schemas.microsoft.com/office/powerpoint/2010/main" val="2653803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09226-E6FE-AE26-82FD-E642067A1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382" y="1"/>
            <a:ext cx="10545417" cy="993912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 Performance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71B9682-D812-4B4F-984E-6256D6A3CC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3610731"/>
              </p:ext>
            </p:extLst>
          </p:nvPr>
        </p:nvGraphicFramePr>
        <p:xfrm>
          <a:off x="372716" y="1102002"/>
          <a:ext cx="4543841" cy="26086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37D4ADA-0534-47BB-8DF5-901EE58842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0563314"/>
              </p:ext>
            </p:extLst>
          </p:nvPr>
        </p:nvGraphicFramePr>
        <p:xfrm>
          <a:off x="5632176" y="1102001"/>
          <a:ext cx="4906226" cy="2608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17B954B-4602-4945-811F-EA22214375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6449565"/>
              </p:ext>
            </p:extLst>
          </p:nvPr>
        </p:nvGraphicFramePr>
        <p:xfrm>
          <a:off x="372716" y="3988904"/>
          <a:ext cx="6665843" cy="27564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C43EE12-091B-EF2B-6081-17BC84FA59B9}"/>
              </a:ext>
            </a:extLst>
          </p:cNvPr>
          <p:cNvSpPr txBox="1"/>
          <p:nvPr/>
        </p:nvSpPr>
        <p:spPr>
          <a:xfrm>
            <a:off x="7209183" y="4280452"/>
            <a:ext cx="4906226" cy="1677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generates highest revenue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 &amp; East regions dominate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segment contributes most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494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02FD7-02D6-F2B4-7442-D24465486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431234"/>
          </a:xfrm>
        </p:spPr>
        <p:txBody>
          <a:bodyPr/>
          <a:lstStyle/>
          <a:p>
            <a:pPr algn="ctr"/>
            <a:r>
              <a:rPr lang="en-US" sz="6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Profitability</a:t>
            </a:r>
            <a:r>
              <a:rPr lang="en-US" dirty="0"/>
              <a:t> </a:t>
            </a:r>
            <a:r>
              <a:rPr lang="en-US" sz="6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A3C0477-770B-4C43-AB9A-2174D9DD34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4111120"/>
              </p:ext>
            </p:extLst>
          </p:nvPr>
        </p:nvGraphicFramePr>
        <p:xfrm>
          <a:off x="202097" y="1431235"/>
          <a:ext cx="6319261" cy="35383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D5EE546-FD0B-4D8E-A090-8E89EA32C2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180437"/>
              </p:ext>
            </p:extLst>
          </p:nvPr>
        </p:nvGraphicFramePr>
        <p:xfrm>
          <a:off x="6723455" y="1431236"/>
          <a:ext cx="5137241" cy="35383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4057029-FFF8-2D36-8321-E0CAB149150B}"/>
              </a:ext>
            </a:extLst>
          </p:cNvPr>
          <p:cNvSpPr txBox="1"/>
          <p:nvPr/>
        </p:nvSpPr>
        <p:spPr>
          <a:xfrm>
            <a:off x="357809" y="5181600"/>
            <a:ext cx="1127760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is most profitable 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Furniture has very low profit 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region underperforms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220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DDC4E-0A8A-6233-A846-5A003337A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88" y="1"/>
            <a:ext cx="12063412" cy="1271587"/>
          </a:xfrm>
        </p:spPr>
        <p:txBody>
          <a:bodyPr/>
          <a:lstStyle/>
          <a:p>
            <a:pPr algn="ctr"/>
            <a:r>
              <a:rPr lang="en-US" sz="6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003E617-E01A-47A1-A71D-03753F757D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0913151"/>
              </p:ext>
            </p:extLst>
          </p:nvPr>
        </p:nvGraphicFramePr>
        <p:xfrm>
          <a:off x="0" y="1500189"/>
          <a:ext cx="12192000" cy="39862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28C572A-8F06-4C1A-5165-FB25E1469FD2}"/>
              </a:ext>
            </a:extLst>
          </p:cNvPr>
          <p:cNvSpPr txBox="1"/>
          <p:nvPr/>
        </p:nvSpPr>
        <p:spPr>
          <a:xfrm>
            <a:off x="128589" y="5715002"/>
            <a:ext cx="1167909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Tables, Bookcases are loss-making Major losses come from specific sub-categories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056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5DA71-6A25-0E79-2D60-C7812D326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05338"/>
          </a:xfrm>
        </p:spPr>
        <p:txBody>
          <a:bodyPr/>
          <a:lstStyle/>
          <a:p>
            <a:pPr algn="ctr"/>
            <a:r>
              <a:rPr lang="en-US" sz="6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Discount Impact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BBDCE21-45C9-4E4E-9DA4-1DEAE90353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4497969"/>
              </p:ext>
            </p:extLst>
          </p:nvPr>
        </p:nvGraphicFramePr>
        <p:xfrm>
          <a:off x="718931" y="1305339"/>
          <a:ext cx="4290391" cy="37270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2080218-5DD3-4616-83E9-8EF769E837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3708232"/>
              </p:ext>
            </p:extLst>
          </p:nvPr>
        </p:nvGraphicFramePr>
        <p:xfrm>
          <a:off x="5539408" y="1305339"/>
          <a:ext cx="5526156" cy="37270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C1C98A8-BF39-54AD-ED99-B53AF092A431}"/>
              </a:ext>
            </a:extLst>
          </p:cNvPr>
          <p:cNvSpPr txBox="1"/>
          <p:nvPr/>
        </p:nvSpPr>
        <p:spPr>
          <a:xfrm>
            <a:off x="718930" y="5259120"/>
            <a:ext cx="10346633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discounts (above 40%) lead to significant losses and reduce overall profitability.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Discounts do not meaningfully increase sales, indicating an ineffective discount strategy.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16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FDE91-4816-0A4F-0EA7-0517F2B3C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80661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Product Performance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7A9476E-94A3-4C05-9AFD-864F12DE1A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0022506"/>
              </p:ext>
            </p:extLst>
          </p:nvPr>
        </p:nvGraphicFramePr>
        <p:xfrm>
          <a:off x="1" y="980661"/>
          <a:ext cx="12192000" cy="42804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B31EF01-7011-BB78-2956-43D021BFD73C}"/>
              </a:ext>
            </a:extLst>
          </p:cNvPr>
          <p:cNvSpPr txBox="1"/>
          <p:nvPr/>
        </p:nvSpPr>
        <p:spPr>
          <a:xfrm>
            <a:off x="291548" y="5406887"/>
            <a:ext cx="11436626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small number of products contribute to a large share of profits and losses.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Loss-making products are often associated with high discounts or low margins.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174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BAD314D-D387-4CF3-89FF-59B5C6934F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670112"/>
              </p:ext>
            </p:extLst>
          </p:nvPr>
        </p:nvGraphicFramePr>
        <p:xfrm>
          <a:off x="0" y="225288"/>
          <a:ext cx="12192000" cy="4545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98181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A095C-6AD1-3B9C-4021-8B7950B89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64973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Regional + Category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22529FC-507D-41A7-A8BB-9BF4BE10CA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601051"/>
              </p:ext>
            </p:extLst>
          </p:nvPr>
        </p:nvGraphicFramePr>
        <p:xfrm>
          <a:off x="331304" y="1364974"/>
          <a:ext cx="11569148" cy="39093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80E3CF4-E6DD-A77F-2F2E-9B912A0F0DFD}"/>
              </a:ext>
            </a:extLst>
          </p:cNvPr>
          <p:cNvSpPr txBox="1"/>
          <p:nvPr/>
        </p:nvSpPr>
        <p:spPr>
          <a:xfrm>
            <a:off x="331304" y="5493025"/>
            <a:ext cx="1170167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Furniture category performs poorly across regions, especially in the Central region where losses are more prominent.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190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8632C9-55B8-3508-B828-51F9886BC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03C942-DA6F-57B8-9FAE-5B464FF345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163303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0626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BB653F-FF71-99C2-36E1-88FAA9CED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/>
              <a:t>Recommendations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1" name="Rectangle 1">
            <a:extLst>
              <a:ext uri="{FF2B5EF4-FFF2-40B4-BE49-F238E27FC236}">
                <a16:creationId xmlns:a16="http://schemas.microsoft.com/office/drawing/2014/main" id="{48EE6341-6FC3-506F-61C0-2BDA9A6DAD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1949129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5896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273</Words>
  <Application>Microsoft Office PowerPoint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Arial </vt:lpstr>
      <vt:lpstr>Calibri</vt:lpstr>
      <vt:lpstr>Times New Roman</vt:lpstr>
      <vt:lpstr>Office Theme</vt:lpstr>
      <vt:lpstr>Super Store  Data Analysis For  United States</vt:lpstr>
      <vt:lpstr>Revenue Performance</vt:lpstr>
      <vt:lpstr>Profitability Analysis</vt:lpstr>
      <vt:lpstr>Loss Analysis</vt:lpstr>
      <vt:lpstr>Discount Impact</vt:lpstr>
      <vt:lpstr>Product Performance</vt:lpstr>
      <vt:lpstr>PowerPoint Presentation</vt:lpstr>
      <vt:lpstr>Regional + Category </vt:lpstr>
      <vt:lpstr>Key Insights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kadiri, Lakshmi swetha</dc:creator>
  <cp:lastModifiedBy>kadiri, Lakshmi swetha</cp:lastModifiedBy>
  <cp:revision>1</cp:revision>
  <dcterms:created xsi:type="dcterms:W3CDTF">2026-04-21T05:06:57Z</dcterms:created>
  <dcterms:modified xsi:type="dcterms:W3CDTF">2026-04-21T06:21:59Z</dcterms:modified>
</cp:coreProperties>
</file>